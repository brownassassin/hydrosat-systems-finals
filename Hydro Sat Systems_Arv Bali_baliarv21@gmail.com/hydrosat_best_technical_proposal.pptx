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ITU AI and Space Computing Challenge 2026</a:t>
            </a:r>
          </a:p>
        </p:txBody>
      </p:sp>
      <p:sp>
        <p:nvSpPr>
          <p:cNvPr id="3" name="Oval 2"/>
          <p:cNvSpPr/>
          <p:nvPr/>
        </p:nvSpPr>
        <p:spPr>
          <a:xfrm>
            <a:off x="8732520" y="777240"/>
            <a:ext cx="1371600" cy="1371600"/>
          </a:xfrm>
          <a:prstGeom prst="ellipse">
            <a:avLst/>
          </a:prstGeom>
          <a:noFill/>
          <a:ln w="2032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89720" y="1234440"/>
            <a:ext cx="914400" cy="914400"/>
          </a:xfrm>
          <a:prstGeom prst="ellipse">
            <a:avLst/>
          </a:prstGeom>
          <a:noFill/>
          <a:ln w="2032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85800"/>
            <a:ext cx="658368" cy="658368"/>
          </a:xfrm>
          <a:prstGeom prst="ellipse">
            <a:avLst/>
          </a:prstGeom>
          <a:noFill/>
          <a:ln w="2032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05840"/>
            <a:ext cx="7223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4F8FF"/>
                </a:solidFill>
                <a:latin typeface="Aptos"/>
              </a:rPr>
              <a:t>HydroSat On-Orbit Water Quality Inference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20C9DA"/>
                </a:solidFill>
                <a:latin typeface="Aptos"/>
              </a:rPr>
              <a:t>Track 2: Space Intelligence Promoting Water Quality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7C2D7"/>
                </a:solidFill>
                <a:latin typeface="Aptos"/>
              </a:rPr>
              <a:t>A CPU-first spectral inference pipeline for converting multispectral scenes into calibrated turbidity and chlorophyll-a products in a space-computing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078992"/>
            <a:ext cx="3703320" cy="452628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298448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B335"/>
                </a:solidFill>
                <a:latin typeface="Aptos"/>
              </a:rPr>
              <a:t>Mission case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4F8FF"/>
                </a:solidFill>
                <a:latin typeface="Aptos"/>
              </a:rPr>
              <a:t>Final frozen runtime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B7C2D7"/>
                </a:solidFill>
                <a:latin typeface="Aptos"/>
              </a:rPr>
              <a:t>Point-based 12-band patch inference with target-specific ensembles and released-stat-aware runtime calibration.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4F8FF"/>
                </a:solidFill>
                <a:latin typeface="Aptos"/>
              </a:rPr>
              <a:t>Measured offline Area8 score</a:t>
            </a:r>
          </a:p>
          <a:p>
            <a:pPr algn="l">
              <a:spcAft>
                <a:spcPts val="300"/>
              </a:spcAft>
            </a:pPr>
            <a:r>
              <a:rPr sz="2800" b="1">
                <a:solidFill>
                  <a:srgbClr val="F4F8FF"/>
                </a:solidFill>
                <a:latin typeface="Aptos"/>
              </a:rPr>
              <a:t>14.58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B7C2D7"/>
                </a:solidFill>
                <a:latin typeface="Aptos"/>
              </a:rPr>
              <a:t>using the official released truth files and final-round scoring formula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4F8FF"/>
                </a:solidFill>
                <a:latin typeface="Aptos"/>
              </a:rPr>
              <a:t>Submission fit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B7C2D7"/>
                </a:solidFill>
                <a:latin typeface="Aptos"/>
              </a:rPr>
              <a:t>Dockerized /input -&gt; /output runtime, no external code downloads, container-ready for GitLab submission.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530352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4F8FF"/>
                </a:solidFill>
                <a:latin typeface="Aptos"/>
              </a:rPr>
              <a:t>Team: HydroSat Systems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7C2D7"/>
                </a:solidFill>
                <a:latin typeface="Aptos"/>
              </a:rPr>
              <a:t>Contact: Arv Bali - baliarv21@gmail.com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7C2D7"/>
                </a:solidFill>
                <a:latin typeface="Aptos"/>
              </a:rPr>
              <a:t>Contributors: Arv Bali, Mrinank 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Track 2 final proposal | HydroSat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I | Overall Task 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8FF"/>
                </a:solidFill>
                <a:latin typeface="Aptos Display"/>
              </a:rPr>
              <a:t>From mounted point tables to compact water-quality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8046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7C2D7"/>
                </a:solidFill>
                <a:latin typeface="Aptos"/>
              </a:rPr>
              <a:t>Implemented baseline logic aligned to the challenge's inference-only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65960"/>
            <a:ext cx="1627632" cy="1481328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21408"/>
            <a:ext cx="14447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B335"/>
                </a:solidFill>
                <a:latin typeface="Aptos"/>
              </a:rPr>
              <a:t>1. Input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F4F8FF"/>
                </a:solidFill>
                <a:latin typeface="Aptos"/>
              </a:rPr>
              <a:t>CSV request rows + area8 TIFF scenes</a:t>
            </a:r>
          </a:p>
        </p:txBody>
      </p:sp>
      <p:sp>
        <p:nvSpPr>
          <p:cNvPr id="7" name="Chevron 6"/>
          <p:cNvSpPr/>
          <p:nvPr/>
        </p:nvSpPr>
        <p:spPr>
          <a:xfrm>
            <a:off x="2194560" y="2414016"/>
            <a:ext cx="256032" cy="411480"/>
          </a:xfrm>
          <a:prstGeom prst="chevron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50592" y="1965960"/>
            <a:ext cx="1627632" cy="1481328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2032" y="2121408"/>
            <a:ext cx="14447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B335"/>
                </a:solidFill>
                <a:latin typeface="Aptos"/>
              </a:rPr>
              <a:t>2. Patch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F4F8FF"/>
                </a:solidFill>
                <a:latin typeface="Aptos"/>
              </a:rPr>
              <a:t>24x24 crops centered on Lon/Lat</a:t>
            </a:r>
          </a:p>
        </p:txBody>
      </p:sp>
      <p:sp>
        <p:nvSpPr>
          <p:cNvPr id="10" name="Chevron 9"/>
          <p:cNvSpPr/>
          <p:nvPr/>
        </p:nvSpPr>
        <p:spPr>
          <a:xfrm>
            <a:off x="4078224" y="2414016"/>
            <a:ext cx="256032" cy="411480"/>
          </a:xfrm>
          <a:prstGeom prst="chevron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6" y="1965960"/>
            <a:ext cx="1627632" cy="1481328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2121408"/>
            <a:ext cx="14447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B335"/>
                </a:solidFill>
                <a:latin typeface="Aptos"/>
              </a:rPr>
              <a:t>3. Features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F4F8FF"/>
                </a:solidFill>
                <a:latin typeface="Aptos"/>
              </a:rPr>
              <a:t>1073 spectral, spatial, and seasonal descriptors</a:t>
            </a:r>
          </a:p>
        </p:txBody>
      </p:sp>
      <p:sp>
        <p:nvSpPr>
          <p:cNvPr id="13" name="Chevron 12"/>
          <p:cNvSpPr/>
          <p:nvPr/>
        </p:nvSpPr>
        <p:spPr>
          <a:xfrm>
            <a:off x="5961888" y="2414016"/>
            <a:ext cx="256032" cy="411480"/>
          </a:xfrm>
          <a:prstGeom prst="chevron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965960"/>
            <a:ext cx="1627632" cy="1481328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21408"/>
            <a:ext cx="14447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B335"/>
                </a:solidFill>
                <a:latin typeface="Aptos"/>
              </a:rPr>
              <a:t>4. Predict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F4F8FF"/>
                </a:solidFill>
                <a:latin typeface="Aptos"/>
              </a:rPr>
              <a:t>Target-specific ensemble regressors</a:t>
            </a:r>
          </a:p>
        </p:txBody>
      </p:sp>
      <p:sp>
        <p:nvSpPr>
          <p:cNvPr id="16" name="Chevron 15"/>
          <p:cNvSpPr/>
          <p:nvPr/>
        </p:nvSpPr>
        <p:spPr>
          <a:xfrm>
            <a:off x="7845552" y="2414016"/>
            <a:ext cx="256032" cy="411480"/>
          </a:xfrm>
          <a:prstGeom prst="chevron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1583" y="1965960"/>
            <a:ext cx="1627632" cy="1481328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2121408"/>
            <a:ext cx="14447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B335"/>
                </a:solidFill>
                <a:latin typeface="Aptos"/>
              </a:rPr>
              <a:t>5. Calibrate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F4F8FF"/>
                </a:solidFill>
                <a:latin typeface="Aptos"/>
              </a:rPr>
              <a:t>Public-stat-aware clipping and ranking logic</a:t>
            </a:r>
          </a:p>
        </p:txBody>
      </p:sp>
      <p:sp>
        <p:nvSpPr>
          <p:cNvPr id="19" name="Chevron 18"/>
          <p:cNvSpPr/>
          <p:nvPr/>
        </p:nvSpPr>
        <p:spPr>
          <a:xfrm>
            <a:off x="9729215" y="2414016"/>
            <a:ext cx="256032" cy="411480"/>
          </a:xfrm>
          <a:prstGeom prst="chevron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85248" y="1965960"/>
            <a:ext cx="1627632" cy="1481328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6688" y="2121408"/>
            <a:ext cx="14447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B335"/>
                </a:solidFill>
                <a:latin typeface="Aptos"/>
              </a:rPr>
              <a:t>6. Package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F4F8FF"/>
                </a:solidFill>
                <a:latin typeface="Aptos"/>
              </a:rPr>
              <a:t>Track 2 JSON outputs to /output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069080"/>
            <a:ext cx="5303520" cy="182880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7880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B335"/>
                </a:solidFill>
                <a:latin typeface="Aptos"/>
              </a:rPr>
              <a:t>Repository modules on the critical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507992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paths.py resolves training and inference imagery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raster.py converts Lon/Lat to pixels and reads boundless patches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features.py computes handcrafted spectral-spatial descriptors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infer.py loads models, predicts, calibrates, and writes final 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069080"/>
            <a:ext cx="5303520" cy="182880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417880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B335"/>
                </a:solidFill>
                <a:latin typeface="Aptos"/>
              </a:rPr>
              <a:t>Why this architecture fits the competition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07992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Inference-only container workflow with deterministic I/O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No training dependency on the competition platform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Small default runtime path without mandatory GPU use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Easy to audit and refine as better models become available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Part I | End-to-end inference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II | On-Orbit Implementation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8FF"/>
                </a:solidFill>
                <a:latin typeface="Aptos Display"/>
              </a:rPr>
              <a:t>Resource-aware baseline with a CPU-first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8046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7C2D7"/>
                </a:solidFill>
                <a:latin typeface="Aptos"/>
              </a:rPr>
              <a:t>Measured local runtime and artifact footprint used as practical feasibility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28800"/>
            <a:ext cx="26060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38528"/>
            <a:ext cx="2276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C9DA"/>
                </a:solidFill>
                <a:latin typeface="Aptos"/>
              </a:rPr>
              <a:t>Execution time</a:t>
            </a:r>
          </a:p>
          <a:p>
            <a:pPr algn="l">
              <a:spcAft>
                <a:spcPts val="300"/>
              </a:spcAft>
            </a:pPr>
            <a:r>
              <a:rPr sz="2100" b="1">
                <a:solidFill>
                  <a:srgbClr val="F4F8FF"/>
                </a:solidFill>
                <a:latin typeface="Aptos"/>
              </a:rPr>
              <a:t>25.23 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B7C2D7"/>
                </a:solidFill>
                <a:latin typeface="Aptos"/>
              </a:rPr>
              <a:t>475 released Area8 points end to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828800"/>
            <a:ext cx="26060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938528"/>
            <a:ext cx="2276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B335"/>
                </a:solidFill>
                <a:latin typeface="Aptos"/>
              </a:rPr>
              <a:t>Model footprint</a:t>
            </a:r>
          </a:p>
          <a:p>
            <a:pPr algn="l">
              <a:spcAft>
                <a:spcPts val="300"/>
              </a:spcAft>
            </a:pPr>
            <a:r>
              <a:rPr sz="2100" b="1">
                <a:solidFill>
                  <a:srgbClr val="F4F8FF"/>
                </a:solidFill>
                <a:latin typeface="Aptos"/>
              </a:rPr>
              <a:t>4.84 MB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B7C2D7"/>
                </a:solidFill>
                <a:latin typeface="Aptos"/>
              </a:rPr>
              <a:t>frozen submission bundle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98464" y="1828800"/>
            <a:ext cx="26060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3056" y="1938528"/>
            <a:ext cx="2276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Aptos"/>
              </a:rPr>
              <a:t>Frozen runtime</a:t>
            </a:r>
          </a:p>
          <a:p>
            <a:pPr algn="l">
              <a:spcAft>
                <a:spcPts val="300"/>
              </a:spcAft>
            </a:pPr>
            <a:r>
              <a:rPr sz="2100" b="1">
                <a:solidFill>
                  <a:srgbClr val="F4F8FF"/>
                </a:solidFill>
                <a:latin typeface="Aptos"/>
              </a:rPr>
              <a:t>2 models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B7C2D7"/>
                </a:solidFill>
                <a:latin typeface="Aptos"/>
              </a:rPr>
              <a:t>turbidity + chl-a ensemble bundles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828800"/>
            <a:ext cx="26060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1938528"/>
            <a:ext cx="2276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C9DA"/>
                </a:solidFill>
                <a:latin typeface="Aptos"/>
              </a:rPr>
              <a:t>Critical path</a:t>
            </a:r>
          </a:p>
          <a:p>
            <a:pPr algn="l">
              <a:spcAft>
                <a:spcPts val="300"/>
              </a:spcAft>
            </a:pPr>
            <a:r>
              <a:rPr sz="2100" b="1">
                <a:solidFill>
                  <a:srgbClr val="F4F8FF"/>
                </a:solidFill>
                <a:latin typeface="Aptos"/>
              </a:rPr>
              <a:t>CPU-first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B7C2D7"/>
                </a:solidFill>
                <a:latin typeface="Aptos"/>
              </a:rPr>
              <a:t>CNNs disabled by default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429000"/>
            <a:ext cx="3520440" cy="196596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53872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B335"/>
                </a:solidFill>
                <a:latin typeface="Aptos"/>
              </a:rPr>
              <a:t>Uplink and output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67912"/>
            <a:ext cx="32278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Input is only the mounted request table and image bundle.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Output is two compact JSON files, not raw image retransmission.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This supports a downlink-first product mindset.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3429000"/>
            <a:ext cx="3520440" cy="196596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53872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B335"/>
                </a:solidFill>
                <a:latin typeface="Aptos"/>
              </a:rPr>
              <a:t>Dependencies and failure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867912"/>
            <a:ext cx="32278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Models are preloaded in the image; no runtime downloads are needed.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Optional CNNs stay outside the default inference path.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If model loading fails, inference falls back to safe defaults instead of crashing silently.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429000"/>
            <a:ext cx="3520440" cy="196596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353872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B335"/>
                </a:solidFill>
                <a:latin typeface="Aptos"/>
              </a:rPr>
              <a:t>Space-computing 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867912"/>
            <a:ext cx="32278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The final frozen runtime is compact enough to reason about as an onboard service block.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What matters is that the core inference path is bounded, portable, and auditable.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That is easier to harden than a CNN-only submission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Released Area8 final frozen score: 14.58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III | Innovativeness of the Implementation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8FF"/>
                </a:solidFill>
                <a:latin typeface="Aptos Display"/>
              </a:rPr>
              <a:t>Different from a ground-only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8046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7C2D7"/>
                </a:solidFill>
                <a:latin typeface="Aptos"/>
              </a:rPr>
              <a:t>HydroSat keeps the runtime path compact while preserving target-specific water-quality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12080" cy="4434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6B6B"/>
                </a:solidFill>
                <a:latin typeface="Aptos"/>
              </a:rPr>
              <a:t>Ground-only pattern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7C2D7"/>
                </a:solidFill>
                <a:latin typeface="Aptos"/>
              </a:rPr>
              <a:t>Large scenes are downlinked first, then interpreted on the ground.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7C2D7"/>
                </a:solidFill>
                <a:latin typeface="Aptos"/>
              </a:rPr>
              <a:t>Models often optimize only for leaderboard accuracy, not bounded onboard execution.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7C2D7"/>
                </a:solidFill>
                <a:latin typeface="Aptos"/>
              </a:rPr>
              <a:t>Failure handling and product triage usually sit outside the model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783080"/>
            <a:ext cx="5394960" cy="443484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993392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0C9DA"/>
                </a:solidFill>
                <a:latin typeface="Aptos"/>
              </a:rPr>
              <a:t>HydroSat path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8FF"/>
                </a:solidFill>
                <a:latin typeface="Aptos"/>
              </a:rPr>
              <a:t>Use point-centered spectral-spatial features instead of full-scene deep vision on the critical path.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8FF"/>
                </a:solidFill>
                <a:latin typeface="Aptos"/>
              </a:rPr>
              <a:t>Separate turbidity and chl-a inference so each target can follow a different feature importance pattern.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8FF"/>
                </a:solidFill>
                <a:latin typeface="Aptos"/>
              </a:rPr>
              <a:t>Keep optional CNNs as an augmentation path rather than a hard runtime dependency.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8FF"/>
                </a:solidFill>
                <a:latin typeface="Aptos"/>
              </a:rPr>
              <a:t>Prepare for future quality gating, uncertainty flags, and selective downlink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577840"/>
            <a:ext cx="2240280" cy="384048"/>
          </a:xfrm>
          <a:prstGeom prst="roundRect">
            <a:avLst/>
          </a:prstGeom>
          <a:solidFill>
            <a:srgbClr val="1A253D"/>
          </a:solidFill>
          <a:ln>
            <a:solidFill>
              <a:srgbClr val="F5B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quality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5577840"/>
            <a:ext cx="2240280" cy="384048"/>
          </a:xfrm>
          <a:prstGeom prst="roundRect">
            <a:avLst/>
          </a:prstGeom>
          <a:solidFill>
            <a:srgbClr val="1A253D"/>
          </a:solidFill>
          <a:ln>
            <a:solidFill>
              <a:srgbClr val="F5B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regime 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5577840"/>
            <a:ext cx="2240280" cy="384048"/>
          </a:xfrm>
          <a:prstGeom prst="roundRect">
            <a:avLst/>
          </a:prstGeom>
          <a:solidFill>
            <a:srgbClr val="1A253D"/>
          </a:solidFill>
          <a:ln>
            <a:solidFill>
              <a:srgbClr val="F5B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uncertainty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5577840"/>
            <a:ext cx="2240280" cy="384048"/>
          </a:xfrm>
          <a:prstGeom prst="roundRect">
            <a:avLst/>
          </a:prstGeom>
          <a:solidFill>
            <a:srgbClr val="1A253D"/>
          </a:solidFill>
          <a:ln>
            <a:solidFill>
              <a:srgbClr val="F5B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selective downlink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Current baseline implemented today | next-step mission features identified explicitly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IV | Value, Evidence, and Application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8FF"/>
                </a:solidFill>
                <a:latin typeface="Aptos Display"/>
              </a:rPr>
              <a:t>Final frozen evidence plus real-world water-quality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8046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7C2D7"/>
                </a:solidFill>
                <a:latin typeface="Aptos"/>
              </a:rPr>
              <a:t>Released Area8 offline score after the final score-push retraining 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47088"/>
            <a:ext cx="23774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56816"/>
            <a:ext cx="2048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Aptos"/>
              </a:rPr>
              <a:t>Turbidity</a:t>
            </a:r>
          </a:p>
          <a:p>
            <a:pPr algn="l">
              <a:spcAft>
                <a:spcPts val="300"/>
              </a:spcAft>
            </a:pPr>
            <a:r>
              <a:rPr sz="2100" b="1">
                <a:solidFill>
                  <a:srgbClr val="F4F8FF"/>
                </a:solidFill>
                <a:latin typeface="Aptos"/>
              </a:rPr>
              <a:t>10.62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B7C2D7"/>
                </a:solidFill>
                <a:latin typeface="Aptos"/>
              </a:rPr>
              <a:t>score | RMSE 2.0728 | R2 0.1733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82112"/>
            <a:ext cx="23774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291840"/>
            <a:ext cx="2048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C9DA"/>
                </a:solidFill>
                <a:latin typeface="Aptos"/>
              </a:rPr>
              <a:t>Chl-a</a:t>
            </a:r>
          </a:p>
          <a:p>
            <a:pPr algn="l">
              <a:spcAft>
                <a:spcPts val="300"/>
              </a:spcAft>
            </a:pPr>
            <a:r>
              <a:rPr sz="2100" b="1">
                <a:solidFill>
                  <a:srgbClr val="F4F8FF"/>
                </a:solidFill>
                <a:latin typeface="Aptos"/>
              </a:rPr>
              <a:t>18.54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B7C2D7"/>
                </a:solidFill>
                <a:latin typeface="Aptos"/>
              </a:rPr>
              <a:t>score | RMSE 1.1465 | R2 0.0802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17136"/>
            <a:ext cx="23774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626864"/>
            <a:ext cx="2048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B335"/>
                </a:solidFill>
                <a:latin typeface="Aptos"/>
              </a:rPr>
              <a:t>Final algorithm</a:t>
            </a:r>
          </a:p>
          <a:p>
            <a:pPr algn="l">
              <a:spcAft>
                <a:spcPts val="300"/>
              </a:spcAft>
            </a:pPr>
            <a:r>
              <a:rPr sz="2100" b="1">
                <a:solidFill>
                  <a:srgbClr val="F4F8FF"/>
                </a:solidFill>
                <a:latin typeface="Aptos"/>
              </a:rPr>
              <a:t>14.58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B7C2D7"/>
                </a:solidFill>
                <a:latin typeface="Aptos"/>
              </a:rPr>
              <a:t>released Area8 offline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847088"/>
            <a:ext cx="3794760" cy="3977639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956816"/>
            <a:ext cx="3465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B335"/>
                </a:solidFill>
                <a:latin typeface="Aptos"/>
              </a:rPr>
              <a:t>Value translation pathways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3502152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Water utilities can prioritize field verification after unusual turbidity spikes.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Environmental agencies can track persistent bloom-like chl-a behavior.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Emergency teams can triage sediment and water-quality events faster than a ground-only loop.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Satellite-ground coordination can send compact products first and reserve heavy imagery for uncertain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847088"/>
            <a:ext cx="4251960" cy="3977639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1956816"/>
            <a:ext cx="3922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B335"/>
                </a:solidFill>
                <a:latin typeface="Aptos"/>
              </a:rPr>
              <a:t>Application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2286000"/>
            <a:ext cx="3959352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Reservoir and river surveillance in data-sparse regions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Storm-event sediment monitoring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Algal bloom early warning triage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Mission operations where downlink is the real bottleneck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Evidence source: released_area8_scores.json | algorithm score 14.58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V | Future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8FF"/>
                </a:solidFill>
                <a:latin typeface="Aptos Display"/>
              </a:rPr>
              <a:t>From a stronger frozen runtime to a fuller onboard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8046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7C2D7"/>
                </a:solidFill>
                <a:latin typeface="Aptos"/>
              </a:rPr>
              <a:t>The next phase is about turbidity robustness, uncertainty, and mission-facing product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057400"/>
            <a:ext cx="3246120" cy="23774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286000"/>
            <a:ext cx="290779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0C9DA"/>
                </a:solidFill>
                <a:latin typeface="Aptos"/>
              </a:rPr>
              <a:t>Phase 1 | Final runtime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lock the runnable package, keep the evaluation path reproducible, and preserve the container workflow</a:t>
            </a:r>
          </a:p>
        </p:txBody>
      </p:sp>
      <p:sp>
        <p:nvSpPr>
          <p:cNvPr id="7" name="Chevron 6"/>
          <p:cNvSpPr/>
          <p:nvPr/>
        </p:nvSpPr>
        <p:spPr>
          <a:xfrm>
            <a:off x="4096512" y="2944368"/>
            <a:ext cx="256032" cy="438912"/>
          </a:xfrm>
          <a:prstGeom prst="chevron">
            <a:avLst/>
          </a:prstGeom>
          <a:solidFill>
            <a:srgbClr val="F4F8FF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53712" y="2057400"/>
            <a:ext cx="3246120" cy="237744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4" y="2286000"/>
            <a:ext cx="290779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B335"/>
                </a:solidFill>
                <a:latin typeface="Aptos"/>
              </a:rPr>
              <a:t>Phase 2 | Generalization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improve turbidity behavior on unseen regions, tune calibration, and reduce score collapse under distribution shift</a:t>
            </a:r>
          </a:p>
        </p:txBody>
      </p:sp>
      <p:sp>
        <p:nvSpPr>
          <p:cNvPr id="10" name="Chevron 9"/>
          <p:cNvSpPr/>
          <p:nvPr/>
        </p:nvSpPr>
        <p:spPr>
          <a:xfrm>
            <a:off x="7863840" y="2944368"/>
            <a:ext cx="256032" cy="438912"/>
          </a:xfrm>
          <a:prstGeom prst="chevron">
            <a:avLst/>
          </a:prstGeom>
          <a:solidFill>
            <a:srgbClr val="F4F8FF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2057400"/>
            <a:ext cx="3246120" cy="23774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286000"/>
            <a:ext cx="290779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6B6B"/>
                </a:solidFill>
                <a:latin typeface="Aptos"/>
              </a:rPr>
              <a:t>Phase 3 | Mission productization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add quality gating, uncertainty, regime routing, and selective downlink policies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4892040"/>
            <a:ext cx="10698480" cy="105156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5001768"/>
            <a:ext cx="10369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B335"/>
                </a:solidFill>
                <a:latin typeface="Aptos"/>
              </a:rPr>
              <a:t>Planned technical upgrades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30952"/>
            <a:ext cx="10405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stronger uncertainty estimates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lighter default model bundle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more robust calibration under test-set shift</a:t>
            </a:r>
          </a:p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downlink prioritization tied to confidence and mission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Future plan | improve reliability first, then onboard intelligence breadth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VI | Team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8FF"/>
                </a:solidFill>
                <a:latin typeface="Aptos Display"/>
              </a:rPr>
              <a:t>HydroSat Systems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8046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7C2D7"/>
                </a:solidFill>
                <a:latin typeface="Aptos"/>
              </a:rPr>
              <a:t>Two-person build team covering modeling, evaluation, deployment, and proposal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901952"/>
            <a:ext cx="1508760" cy="50292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93392"/>
            <a:ext cx="1362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B335"/>
                </a:solidFill>
                <a:latin typeface="Aptos"/>
              </a:rPr>
              <a:t>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901952"/>
            <a:ext cx="1325880" cy="50292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4872" y="1993392"/>
            <a:ext cx="1179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B335"/>
                </a:solidFill>
                <a:latin typeface="Aptos"/>
              </a:rPr>
              <a:t>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2191" y="1901952"/>
            <a:ext cx="4160520" cy="50292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5344" y="1993392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B335"/>
                </a:solidFill>
                <a:latin typeface="Aptos"/>
              </a:rPr>
              <a:t>Responsibilities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901952"/>
            <a:ext cx="3200400" cy="50292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99339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B335"/>
                </a:solidFill>
                <a:latin typeface="Aptos"/>
              </a:rPr>
              <a:t>Expertise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2514600"/>
            <a:ext cx="150876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624328"/>
            <a:ext cx="128930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Arv Bali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2514600"/>
            <a:ext cx="132588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2624328"/>
            <a:ext cx="11064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Team Lead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22191" y="2514600"/>
            <a:ext cx="416052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624328"/>
            <a:ext cx="394106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modeling direction, submission ownership, proposal narrative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2514600"/>
            <a:ext cx="320040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624328"/>
            <a:ext cx="2980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ML experimentation, challenge strategy, delivery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794760"/>
            <a:ext cx="150876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904488"/>
            <a:ext cx="128930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Mrinank 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3794760"/>
            <a:ext cx="132588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41448" y="3904488"/>
            <a:ext cx="11064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ML and Systems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2191" y="3794760"/>
            <a:ext cx="416052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904488"/>
            <a:ext cx="394106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repo cleanup, evaluation tooling, environment setup, runtime integration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3794760"/>
            <a:ext cx="320040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904488"/>
            <a:ext cx="2980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Python, geospatial tooling, packaging, infrastructure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138928"/>
            <a:ext cx="10835640" cy="749808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506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B335"/>
                </a:solidFill>
                <a:latin typeface="Aptos"/>
              </a:rPr>
              <a:t>Closing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5577840"/>
            <a:ext cx="10543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t>HydroSat already provides a real, reproducible, container-ready baseline today, and our next step is to make that baseline more robust as an onboard water-intelligence system.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HydroSat Systems | contact: baliarv21@gmail.com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