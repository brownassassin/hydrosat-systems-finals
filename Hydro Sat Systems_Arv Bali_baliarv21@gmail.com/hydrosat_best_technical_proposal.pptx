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autoCompressPictures="0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59" r:id="rId7"/>
    <p:sldId id="261" r:id="rId8"/>
    <p:sldId id="262" r:id="rId9"/>
    <p:sldId id="263" r:id="rId10"/>
  </p:sldIdLst>
  <p:sldSz cx="12191695" cy="68580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747775"/>
          </p15:clr>
        </p15:guide>
        <p15:guide id="2" pos="2869" userDrawn="1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howGuides="1">
      <p:cViewPr varScale="1">
        <p:scale>
          <a:sx n="110" d="100"/>
          <a:sy n="110" d="100"/>
        </p:scale>
        <p:origin x="658" y="67"/>
      </p:cViewPr>
      <p:guideLst>
        <p:guide orient="horz" pos="1620"/>
        <p:guide pos="2869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Char char="●"/>
              <a:defRPr sz="11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Char char="○"/>
              <a:defRPr sz="11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Char char="■"/>
              <a:defRPr sz="11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Char char="●"/>
              <a:defRPr sz="11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Char char="○"/>
              <a:defRPr sz="11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Char char="■"/>
              <a:defRPr sz="11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Char char="●"/>
              <a:defRPr sz="11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Char char="○"/>
              <a:defRPr sz="11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Char char="■"/>
              <a:defRPr sz="11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/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3" name="Google Shape;53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sz="110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9" name="Google Shape;59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sz="110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5" name="Google Shape;65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sz="110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1" name="Google Shape;71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sz="110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1" name="Google Shape;71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sz="1100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1" name="Google Shape;71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sz="1100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1" name="Google Shape;71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sz="1100"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x" matchingName="Title and body">
  <p:cSld name="TITLE_AND_BODY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1" name="Google Shape;11;p6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2" name="Google Shape;12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</a:fld>
            <a:endParaRPr lang="en-GB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matchingName="Section header">
  <p:cSld name="SECTION_HEADER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8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</a:fld>
            <a:endParaRPr lang="en-GB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ColTx" matchingName="Title and two columns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9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9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9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</a:fld>
            <a:endParaRPr lang="en-GB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matchingName="Title 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10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</a:fld>
            <a:endParaRPr lang="en-GB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11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11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</a:fld>
            <a:endParaRPr lang="en-GB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12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</a:fld>
            <a:endParaRPr lang="en-GB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13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37" name="Google Shape;37;p13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13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13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1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</a:fld>
            <a:endParaRPr lang="en-GB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4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</a:fld>
            <a:endParaRPr lang="en-GB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5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5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</a:fld>
            <a:endParaRPr lang="en-GB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matchingNam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</a:fld>
            <a:endParaRPr lang="en-GB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Generated">
  <p:cSld name="Generated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/>
              <a:buNone/>
              <a:defRPr sz="2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/>
              <a:buNone/>
              <a:defRPr sz="2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/>
              <a:buNone/>
              <a:defRPr sz="2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/>
              <a:buNone/>
              <a:defRPr sz="2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/>
              <a:buNone/>
              <a:defRPr sz="2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/>
              <a:buNone/>
              <a:defRPr sz="2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/>
              <a:buNone/>
              <a:defRPr sz="2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/>
              <a:buNone/>
              <a:defRPr sz="2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/>
              <a:buNone/>
              <a:defRPr sz="2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/>
        </p:txBody>
      </p:sp>
      <p:sp>
        <p:nvSpPr>
          <p:cNvPr id="7" name="Google Shape;7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 panose="020B0604020202020204"/>
              <a:buChar char="●"/>
              <a:defRPr sz="18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 panose="020B0604020202020204"/>
              <a:buChar char="○"/>
              <a:defRPr sz="14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 panose="020B0604020202020204"/>
              <a:buChar char="■"/>
              <a:defRPr sz="14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 panose="020B0604020202020204"/>
              <a:buChar char="●"/>
              <a:defRPr sz="14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 panose="020B0604020202020204"/>
              <a:buChar char="○"/>
              <a:defRPr sz="14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 panose="020B0604020202020204"/>
              <a:buChar char="■"/>
              <a:defRPr sz="14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 panose="020B0604020202020204"/>
              <a:buChar char="●"/>
              <a:defRPr sz="14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 panose="020B0604020202020204"/>
              <a:buChar char="○"/>
              <a:defRPr sz="14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 panose="020B0604020202020204"/>
              <a:buChar char="■"/>
              <a:defRPr sz="14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/>
        </p:txBody>
      </p:sp>
      <p:sp>
        <p:nvSpPr>
          <p:cNvPr id="8" name="Google Shape;8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</a:fld>
            <a:endParaRPr lang="en-GB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8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A4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Arc 3"/>
          <p:cNvSpPr/>
          <p:nvPr/>
        </p:nvSpPr>
        <p:spPr>
          <a:xfrm>
            <a:off x="7223760" y="822960"/>
            <a:ext cx="4114800" cy="4114800"/>
          </a:xfrm>
          <a:prstGeom prst="arc">
            <a:avLst/>
          </a:prstGeom>
          <a:ln w="27940">
            <a:solidFill>
              <a:srgbClr val="00A4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Arc 4"/>
          <p:cNvSpPr/>
          <p:nvPr/>
        </p:nvSpPr>
        <p:spPr>
          <a:xfrm>
            <a:off x="7360920" y="1024128"/>
            <a:ext cx="3840480" cy="3840480"/>
          </a:xfrm>
          <a:prstGeom prst="arc">
            <a:avLst/>
          </a:prstGeom>
          <a:ln w="25400">
            <a:solidFill>
              <a:srgbClr val="1866A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Arc 5"/>
          <p:cNvSpPr/>
          <p:nvPr/>
        </p:nvSpPr>
        <p:spPr>
          <a:xfrm>
            <a:off x="7498080" y="1225296"/>
            <a:ext cx="3566160" cy="3566160"/>
          </a:xfrm>
          <a:prstGeom prst="arc">
            <a:avLst/>
          </a:prstGeom>
          <a:ln w="22860">
            <a:solidFill>
              <a:srgbClr val="3F98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001000" y="1554480"/>
            <a:ext cx="2514600" cy="2514600"/>
          </a:xfrm>
          <a:prstGeom prst="ellipse">
            <a:avLst/>
          </a:prstGeom>
          <a:solidFill>
            <a:srgbClr val="103A58"/>
          </a:solidFill>
          <a:ln>
            <a:solidFill>
              <a:srgbClr val="307C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Arc 7"/>
          <p:cNvSpPr/>
          <p:nvPr/>
        </p:nvSpPr>
        <p:spPr>
          <a:xfrm>
            <a:off x="8275320" y="1920240"/>
            <a:ext cx="1874519" cy="1737360"/>
          </a:xfrm>
          <a:prstGeom prst="arc">
            <a:avLst/>
          </a:prstGeom>
          <a:ln w="50800">
            <a:solidFill>
              <a:srgbClr val="00A4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012680" y="1078992"/>
            <a:ext cx="411480" cy="201168"/>
          </a:xfrm>
          <a:prstGeom prst="rect">
            <a:avLst/>
          </a:prstGeom>
          <a:solidFill>
            <a:srgbClr val="EEAB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646920" y="1097280"/>
            <a:ext cx="292608" cy="118872"/>
          </a:xfrm>
          <a:prstGeom prst="rect">
            <a:avLst/>
          </a:prstGeom>
          <a:solidFill>
            <a:srgbClr val="00A4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0488168" y="1097280"/>
            <a:ext cx="292608" cy="118872"/>
          </a:xfrm>
          <a:prstGeom prst="rect">
            <a:avLst/>
          </a:prstGeom>
          <a:solidFill>
            <a:srgbClr val="00A4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" y="566928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>
                <a:solidFill>
                  <a:srgbClr val="00A4B7"/>
                </a:solidFill>
              </a:defRPr>
            </a:pPr>
            <a:r>
              <a:t>MISSION CASE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" y="1298448"/>
            <a:ext cx="6949440" cy="1417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HydroSat On-Orbit Intelligent Water Quality Inference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2962656"/>
            <a:ext cx="62179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700" b="0">
                <a:solidFill>
                  <a:srgbClr val="D2E4EC"/>
                </a:solidFill>
              </a:defRPr>
            </a:pPr>
            <a:r>
              <a:t>A flight decision system for turning multispectral observations into calibrated turbidity and chlorophyll-a products in orbit.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8096" y="4297680"/>
            <a:ext cx="10058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50" b="1">
                <a:solidFill>
                  <a:srgbClr val="00A4B7"/>
                </a:solidFill>
              </a:defRPr>
            </a:pPr>
            <a:r>
              <a:t>Heritage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40" y="4297680"/>
            <a:ext cx="539496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50" b="0">
                <a:solidFill>
                  <a:srgbClr val="E7EFF3"/>
                </a:solidFill>
              </a:defRPr>
            </a:pPr>
            <a:r>
              <a:t>ESA PhiSat-2 demonstrates onboard AI with multispectral imaging, scene triage, compression, wildfire, vessel and marine-pollution applications.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" y="4773168"/>
            <a:ext cx="10058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50" b="1">
                <a:solidFill>
                  <a:srgbClr val="00A4B7"/>
                </a:solidFill>
              </a:defRPr>
            </a:pPr>
            <a:r>
              <a:t>Problem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91640" y="4773168"/>
            <a:ext cx="539496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50" b="0">
                <a:solidFill>
                  <a:srgbClr val="E7EFF3"/>
                </a:solidFill>
              </a:defRPr>
            </a:pPr>
            <a:r>
              <a:t>Earth-observation missions can generate more imagery than spacecraft storage and downlink budgets can move to the ground.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6" y="5248656"/>
            <a:ext cx="10058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50" b="1">
                <a:solidFill>
                  <a:srgbClr val="00A4B7"/>
                </a:solidFill>
              </a:defRPr>
            </a:pPr>
            <a:r>
              <a:t>HydroSat answer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5248656"/>
            <a:ext cx="539496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50" b="0">
                <a:solidFill>
                  <a:srgbClr val="E7EFF3"/>
                </a:solidFill>
              </a:defRPr>
            </a:pPr>
            <a:r>
              <a:t>Ingest, validate, classify, extract, infer, flag, compress and downlink only decision-relevant water-quality products.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43800" y="4983480"/>
            <a:ext cx="352044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Not a model in space.</a:t>
            </a:r>
            <a:br/>
            <a:r>
              <a:t>A spacecraft decision pipeline.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8096" y="6446520"/>
            <a:ext cx="98755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750" b="0">
                <a:solidFill>
                  <a:srgbClr val="B0C6CF"/>
                </a:solidFill>
              </a:defRPr>
            </a:pPr>
            <a:r>
              <a:t>Evidence: ESA PhiSat-2 mission pages and 15 July 2025 science-phase update.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00A4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217152" y="0"/>
            <a:ext cx="2971800" cy="6858000"/>
          </a:xfrm>
          <a:prstGeom prst="rect">
            <a:avLst/>
          </a:prstGeom>
          <a:solidFill>
            <a:srgbClr val="F4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217152" y="0"/>
            <a:ext cx="36576" cy="6858000"/>
          </a:xfrm>
          <a:prstGeom prst="rect">
            <a:avLst/>
          </a:prstGeom>
          <a:solidFill>
            <a:srgbClr val="BED2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384048"/>
            <a:ext cx="109728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00A4B7"/>
                </a:solidFill>
              </a:defRPr>
            </a:pPr>
            <a:r>
              <a:t>Part 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713232"/>
            <a:ext cx="78638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08182C"/>
                </a:solidFill>
              </a:defRPr>
            </a:pPr>
            <a:r>
              <a:t>Overall Task Implementation Architecture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53312"/>
            <a:ext cx="781812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550" b="0">
                <a:solidFill>
                  <a:srgbClr val="1C2734"/>
                </a:solidFill>
              </a:defRPr>
            </a:pPr>
            <a:r>
              <a:t>HydroSat uses a deterministic staged pipeline so the mission-critical path is auditable, bounded and CPU-executable.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28048" y="868680"/>
            <a:ext cx="214884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1866AB"/>
                </a:solidFill>
              </a:defRPr>
            </a:pPr>
            <a:r>
              <a:t>Critical path:</a:t>
            </a:r>
            <a:br/>
            <a:r>
              <a:t>quality gate -&gt; regime router -&gt; dual-task experts -&gt; confidence state</a:t>
            </a:r>
          </a:p>
        </p:txBody>
      </p:sp>
      <p:sp>
        <p:nvSpPr>
          <p:cNvPr id="9" name="Oval 8"/>
          <p:cNvSpPr/>
          <p:nvPr/>
        </p:nvSpPr>
        <p:spPr>
          <a:xfrm>
            <a:off x="9582912" y="4773168"/>
            <a:ext cx="109728" cy="109728"/>
          </a:xfrm>
          <a:prstGeom prst="ellipse">
            <a:avLst/>
          </a:prstGeom>
          <a:solidFill>
            <a:srgbClr val="00A4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875520" y="4773168"/>
            <a:ext cx="109728" cy="109728"/>
          </a:xfrm>
          <a:prstGeom prst="ellipse">
            <a:avLst/>
          </a:prstGeom>
          <a:solidFill>
            <a:srgbClr val="BED2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168128" y="4773168"/>
            <a:ext cx="109728" cy="109728"/>
          </a:xfrm>
          <a:prstGeom prst="ellipse">
            <a:avLst/>
          </a:prstGeom>
          <a:solidFill>
            <a:srgbClr val="BED2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460736" y="4773168"/>
            <a:ext cx="109728" cy="109728"/>
          </a:xfrm>
          <a:prstGeom prst="ellipse">
            <a:avLst/>
          </a:prstGeom>
          <a:solidFill>
            <a:srgbClr val="BED2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753344" y="4773168"/>
            <a:ext cx="109728" cy="109728"/>
          </a:xfrm>
          <a:prstGeom prst="ellipse">
            <a:avLst/>
          </a:prstGeom>
          <a:solidFill>
            <a:srgbClr val="BED2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045952" y="4773168"/>
            <a:ext cx="109728" cy="109728"/>
          </a:xfrm>
          <a:prstGeom prst="ellipse">
            <a:avLst/>
          </a:prstGeom>
          <a:solidFill>
            <a:srgbClr val="BED2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13232" y="2350008"/>
            <a:ext cx="310896" cy="310896"/>
          </a:xfrm>
          <a:prstGeom prst="ellipse">
            <a:avLst/>
          </a:prstGeom>
          <a:solidFill>
            <a:srgbClr val="00A4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2322576"/>
            <a:ext cx="15087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50" b="1">
                <a:solidFill>
                  <a:srgbClr val="08182C"/>
                </a:solidFill>
              </a:defRPr>
            </a:pPr>
            <a:r>
              <a:t>1. Ingest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97480" y="2313432"/>
            <a:ext cx="5742432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20" b="0">
                <a:solidFill>
                  <a:srgbClr val="1C2734"/>
                </a:solidFill>
              </a:defRPr>
            </a:pPr>
            <a:r>
              <a:t>Read packetized multispectral scenes, georeferencing metadata and request tables; reject missing images or out-of-bounds points.</a:t>
            </a:r>
          </a:p>
        </p:txBody>
      </p:sp>
      <p:sp>
        <p:nvSpPr>
          <p:cNvPr id="18" name="Oval 17"/>
          <p:cNvSpPr/>
          <p:nvPr/>
        </p:nvSpPr>
        <p:spPr>
          <a:xfrm>
            <a:off x="713232" y="3163824"/>
            <a:ext cx="310896" cy="310896"/>
          </a:xfrm>
          <a:prstGeom prst="ellipse">
            <a:avLst/>
          </a:prstGeom>
          <a:solidFill>
            <a:srgbClr val="3F98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20" y="3136392"/>
            <a:ext cx="15087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50" b="1">
                <a:solidFill>
                  <a:srgbClr val="08182C"/>
                </a:solidFill>
              </a:defRPr>
            </a:pPr>
            <a:r>
              <a:t>2. Gate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97480" y="3127248"/>
            <a:ext cx="5742432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20" b="0">
                <a:solidFill>
                  <a:srgbClr val="1C2734"/>
                </a:solidFill>
              </a:defRPr>
            </a:pPr>
            <a:r>
              <a:t>Screen cloud, glint, non-water pixels, low valid-pixel fraction and mixed shoreline observations before regression.</a:t>
            </a:r>
          </a:p>
        </p:txBody>
      </p:sp>
      <p:sp>
        <p:nvSpPr>
          <p:cNvPr id="21" name="Oval 20"/>
          <p:cNvSpPr/>
          <p:nvPr/>
        </p:nvSpPr>
        <p:spPr>
          <a:xfrm>
            <a:off x="713232" y="3977639"/>
            <a:ext cx="310896" cy="310896"/>
          </a:xfrm>
          <a:prstGeom prst="ellipse">
            <a:avLst/>
          </a:prstGeom>
          <a:solidFill>
            <a:srgbClr val="00A4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88720" y="3950208"/>
            <a:ext cx="15087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50" b="1">
                <a:solidFill>
                  <a:srgbClr val="08182C"/>
                </a:solidFill>
              </a:defRPr>
            </a:pPr>
            <a:r>
              <a:t>3. Route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97480" y="3941064"/>
            <a:ext cx="5742432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20" b="0">
                <a:solidFill>
                  <a:srgbClr val="1C2734"/>
                </a:solidFill>
              </a:defRPr>
            </a:pPr>
            <a:r>
              <a:t>Classify optical regime: clear water, turbid/suspended-matter dominated, bloom-like, mixed coastal or invalid.</a:t>
            </a:r>
          </a:p>
        </p:txBody>
      </p:sp>
      <p:sp>
        <p:nvSpPr>
          <p:cNvPr id="24" name="Oval 23"/>
          <p:cNvSpPr/>
          <p:nvPr/>
        </p:nvSpPr>
        <p:spPr>
          <a:xfrm>
            <a:off x="713232" y="4791455"/>
            <a:ext cx="310896" cy="310896"/>
          </a:xfrm>
          <a:prstGeom prst="ellipse">
            <a:avLst/>
          </a:prstGeom>
          <a:solidFill>
            <a:srgbClr val="3F98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20" y="4764024"/>
            <a:ext cx="15087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50" b="1">
                <a:solidFill>
                  <a:srgbClr val="08182C"/>
                </a:solidFill>
              </a:defRPr>
            </a:pPr>
            <a:r>
              <a:t>4. Infer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697480" y="4754880"/>
            <a:ext cx="5742432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20" b="0">
                <a:solidFill>
                  <a:srgbClr val="1C2734"/>
                </a:solidFill>
              </a:defRPr>
            </a:pPr>
            <a:r>
              <a:t>Run target-specific turbidity and Chl-a experts over compact spectral-spatial descriptors, then emit estimates plus confidence.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8368" y="6272784"/>
            <a:ext cx="8138160" cy="13716"/>
          </a:xfrm>
          <a:prstGeom prst="rect">
            <a:avLst/>
          </a:prstGeom>
          <a:solidFill>
            <a:srgbClr val="BED2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" y="6364224"/>
            <a:ext cx="10424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750" b="0">
                <a:solidFill>
                  <a:srgbClr val="5B6C7D"/>
                </a:solidFill>
              </a:defRPr>
            </a:pPr>
            <a:r>
              <a:t>Design basis: onboard AI constraints from ESA PhiSat/SpIRIT framing; water-quality preprocessing guidance from recent reviews.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00A4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217152" y="0"/>
            <a:ext cx="2971800" cy="6858000"/>
          </a:xfrm>
          <a:prstGeom prst="rect">
            <a:avLst/>
          </a:prstGeom>
          <a:solidFill>
            <a:srgbClr val="F4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217152" y="0"/>
            <a:ext cx="36576" cy="6858000"/>
          </a:xfrm>
          <a:prstGeom prst="rect">
            <a:avLst/>
          </a:prstGeom>
          <a:solidFill>
            <a:srgbClr val="BED2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384048"/>
            <a:ext cx="109728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00A4B7"/>
                </a:solidFill>
              </a:defRPr>
            </a:pPr>
            <a:r>
              <a:t>Part II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713232"/>
            <a:ext cx="78638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08182C"/>
                </a:solidFill>
              </a:defRPr>
            </a:pPr>
            <a:r>
              <a:t>On-Orbit Implementation Feasibility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53312"/>
            <a:ext cx="781812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550" b="0">
                <a:solidFill>
                  <a:srgbClr val="1C2734"/>
                </a:solidFill>
              </a:defRPr>
            </a:pPr>
            <a:r>
              <a:t>The baseline system is CPU-first and containerized; accelerators improve throughput but are not required for safe operation.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28048" y="868680"/>
            <a:ext cx="214884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1866AB"/>
                </a:solidFill>
              </a:defRPr>
            </a:pPr>
            <a:r>
              <a:t>Flight-safe default:</a:t>
            </a:r>
            <a:br/>
            <a:r>
              <a:t>small, deterministic, bounded, abstention-aware.</a:t>
            </a:r>
          </a:p>
        </p:txBody>
      </p:sp>
      <p:sp>
        <p:nvSpPr>
          <p:cNvPr id="9" name="Oval 8"/>
          <p:cNvSpPr/>
          <p:nvPr/>
        </p:nvSpPr>
        <p:spPr>
          <a:xfrm>
            <a:off x="9582912" y="4773168"/>
            <a:ext cx="109728" cy="109728"/>
          </a:xfrm>
          <a:prstGeom prst="ellipse">
            <a:avLst/>
          </a:prstGeom>
          <a:solidFill>
            <a:srgbClr val="BED2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875520" y="4773168"/>
            <a:ext cx="109728" cy="109728"/>
          </a:xfrm>
          <a:prstGeom prst="ellipse">
            <a:avLst/>
          </a:prstGeom>
          <a:solidFill>
            <a:srgbClr val="00A4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168128" y="4773168"/>
            <a:ext cx="109728" cy="109728"/>
          </a:xfrm>
          <a:prstGeom prst="ellipse">
            <a:avLst/>
          </a:prstGeom>
          <a:solidFill>
            <a:srgbClr val="BED2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460736" y="4773168"/>
            <a:ext cx="109728" cy="109728"/>
          </a:xfrm>
          <a:prstGeom prst="ellipse">
            <a:avLst/>
          </a:prstGeom>
          <a:solidFill>
            <a:srgbClr val="BED2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753344" y="4773168"/>
            <a:ext cx="109728" cy="109728"/>
          </a:xfrm>
          <a:prstGeom prst="ellipse">
            <a:avLst/>
          </a:prstGeom>
          <a:solidFill>
            <a:srgbClr val="BED2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045952" y="4773168"/>
            <a:ext cx="109728" cy="109728"/>
          </a:xfrm>
          <a:prstGeom prst="ellipse">
            <a:avLst/>
          </a:prstGeom>
          <a:solidFill>
            <a:srgbClr val="BED2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13232" y="2350008"/>
            <a:ext cx="310896" cy="310896"/>
          </a:xfrm>
          <a:prstGeom prst="ellipse">
            <a:avLst/>
          </a:prstGeom>
          <a:solidFill>
            <a:srgbClr val="00A4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2322576"/>
            <a:ext cx="15087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50" b="1">
                <a:solidFill>
                  <a:srgbClr val="08182C"/>
                </a:solidFill>
              </a:defRPr>
            </a:pPr>
            <a:r>
              <a:t>Compute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97480" y="2313432"/>
            <a:ext cx="5742432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20" b="0">
                <a:solidFill>
                  <a:srgbClr val="1C2734"/>
                </a:solidFill>
              </a:defRPr>
            </a:pPr>
            <a:r>
              <a:t>Primary estimator is a small tabular ensemble over engineered patch descriptors, avoiding a CNN-only critical path.</a:t>
            </a:r>
          </a:p>
        </p:txBody>
      </p:sp>
      <p:sp>
        <p:nvSpPr>
          <p:cNvPr id="18" name="Oval 17"/>
          <p:cNvSpPr/>
          <p:nvPr/>
        </p:nvSpPr>
        <p:spPr>
          <a:xfrm>
            <a:off x="713232" y="3163824"/>
            <a:ext cx="310896" cy="310896"/>
          </a:xfrm>
          <a:prstGeom prst="ellipse">
            <a:avLst/>
          </a:prstGeom>
          <a:solidFill>
            <a:srgbClr val="3F98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20" y="3136392"/>
            <a:ext cx="15087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50" b="1">
                <a:solidFill>
                  <a:srgbClr val="08182C"/>
                </a:solidFill>
              </a:defRPr>
            </a:pPr>
            <a:r>
              <a:t>Memory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97480" y="3127248"/>
            <a:ext cx="5742432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20" b="0">
                <a:solidFill>
                  <a:srgbClr val="1C2734"/>
                </a:solidFill>
              </a:defRPr>
            </a:pPr>
            <a:r>
              <a:t>Feature tables are compact; models are serialized tree ensembles; inference streams request rows without full-scene retention.</a:t>
            </a:r>
          </a:p>
        </p:txBody>
      </p:sp>
      <p:sp>
        <p:nvSpPr>
          <p:cNvPr id="21" name="Oval 20"/>
          <p:cNvSpPr/>
          <p:nvPr/>
        </p:nvSpPr>
        <p:spPr>
          <a:xfrm>
            <a:off x="713232" y="3977639"/>
            <a:ext cx="310896" cy="310896"/>
          </a:xfrm>
          <a:prstGeom prst="ellipse">
            <a:avLst/>
          </a:prstGeom>
          <a:solidFill>
            <a:srgbClr val="00A4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88720" y="3950208"/>
            <a:ext cx="15087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50" b="1">
                <a:solidFill>
                  <a:srgbClr val="08182C"/>
                </a:solidFill>
              </a:defRPr>
            </a:pPr>
            <a:r>
              <a:t>Fault tolerance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97480" y="3941064"/>
            <a:ext cx="5742432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20" b="0">
                <a:solidFill>
                  <a:srgbClr val="1C2734"/>
                </a:solidFill>
              </a:defRPr>
            </a:pPr>
            <a:r>
              <a:t>Missing bands, invalid observations or model failures trigger fallback states instead of silent bad products.</a:t>
            </a:r>
          </a:p>
        </p:txBody>
      </p:sp>
      <p:sp>
        <p:nvSpPr>
          <p:cNvPr id="24" name="Oval 23"/>
          <p:cNvSpPr/>
          <p:nvPr/>
        </p:nvSpPr>
        <p:spPr>
          <a:xfrm>
            <a:off x="713232" y="4791455"/>
            <a:ext cx="310896" cy="310896"/>
          </a:xfrm>
          <a:prstGeom prst="ellipse">
            <a:avLst/>
          </a:prstGeom>
          <a:solidFill>
            <a:srgbClr val="3F98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20" y="4764024"/>
            <a:ext cx="15087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50" b="1">
                <a:solidFill>
                  <a:srgbClr val="08182C"/>
                </a:solidFill>
              </a:defRPr>
            </a:pPr>
            <a:r>
              <a:t>Operations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697480" y="4754880"/>
            <a:ext cx="5742432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20" b="0">
                <a:solidFill>
                  <a:srgbClr val="1C2734"/>
                </a:solidFill>
              </a:defRPr>
            </a:pPr>
            <a:r>
              <a:t>Thread caps, watchdog limits, deterministic inference and physically valid output clipping support flight assurance.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8368" y="6272784"/>
            <a:ext cx="8138160" cy="13716"/>
          </a:xfrm>
          <a:prstGeom prst="rect">
            <a:avLst/>
          </a:prstGeom>
          <a:solidFill>
            <a:srgbClr val="BED2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" y="6364224"/>
            <a:ext cx="10424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750" b="0">
                <a:solidFill>
                  <a:srgbClr val="5B6C7D"/>
                </a:solidFill>
              </a:defRPr>
            </a:pPr>
            <a:r>
              <a:t>Evidence: ESA onboard AI constraints; PhiSat-2 uses onboard AI computer with modular applications.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00A4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217152" y="0"/>
            <a:ext cx="2971800" cy="6858000"/>
          </a:xfrm>
          <a:prstGeom prst="rect">
            <a:avLst/>
          </a:prstGeom>
          <a:solidFill>
            <a:srgbClr val="F4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217152" y="0"/>
            <a:ext cx="36576" cy="6858000"/>
          </a:xfrm>
          <a:prstGeom prst="rect">
            <a:avLst/>
          </a:prstGeom>
          <a:solidFill>
            <a:srgbClr val="BED2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384048"/>
            <a:ext cx="109728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00A4B7"/>
                </a:solidFill>
              </a:defRPr>
            </a:pPr>
            <a:r>
              <a:t>Part III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713232"/>
            <a:ext cx="78638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08182C"/>
                </a:solidFill>
              </a:defRPr>
            </a:pPr>
            <a:r>
              <a:t>Innovativeness of the Implementation Path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53312"/>
            <a:ext cx="781812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550" b="0">
                <a:solidFill>
                  <a:srgbClr val="1C2734"/>
                </a:solidFill>
              </a:defRPr>
            </a:pPr>
            <a:r>
              <a:t>The high-confidence rewrite is regime-routed experts, not one global regressor forced across all optical water types.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28048" y="868680"/>
            <a:ext cx="214884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1866AB"/>
                </a:solidFill>
              </a:defRPr>
            </a:pPr>
            <a:r>
              <a:t>Scientifically grounded ML:</a:t>
            </a:r>
            <a:br/>
            <a:r>
              <a:t>indices as priors, ensembles as nonlinear retrieval engines.</a:t>
            </a:r>
          </a:p>
        </p:txBody>
      </p:sp>
      <p:sp>
        <p:nvSpPr>
          <p:cNvPr id="9" name="Oval 8"/>
          <p:cNvSpPr/>
          <p:nvPr/>
        </p:nvSpPr>
        <p:spPr>
          <a:xfrm>
            <a:off x="9582912" y="4773168"/>
            <a:ext cx="109728" cy="109728"/>
          </a:xfrm>
          <a:prstGeom prst="ellipse">
            <a:avLst/>
          </a:prstGeom>
          <a:solidFill>
            <a:srgbClr val="BED2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875520" y="4773168"/>
            <a:ext cx="109728" cy="109728"/>
          </a:xfrm>
          <a:prstGeom prst="ellipse">
            <a:avLst/>
          </a:prstGeom>
          <a:solidFill>
            <a:srgbClr val="BED2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168128" y="4773168"/>
            <a:ext cx="109728" cy="109728"/>
          </a:xfrm>
          <a:prstGeom prst="ellipse">
            <a:avLst/>
          </a:prstGeom>
          <a:solidFill>
            <a:srgbClr val="00A4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460736" y="4773168"/>
            <a:ext cx="109728" cy="109728"/>
          </a:xfrm>
          <a:prstGeom prst="ellipse">
            <a:avLst/>
          </a:prstGeom>
          <a:solidFill>
            <a:srgbClr val="BED2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753344" y="4773168"/>
            <a:ext cx="109728" cy="109728"/>
          </a:xfrm>
          <a:prstGeom prst="ellipse">
            <a:avLst/>
          </a:prstGeom>
          <a:solidFill>
            <a:srgbClr val="BED2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045952" y="4773168"/>
            <a:ext cx="109728" cy="109728"/>
          </a:xfrm>
          <a:prstGeom prst="ellipse">
            <a:avLst/>
          </a:prstGeom>
          <a:solidFill>
            <a:srgbClr val="BED2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13232" y="2350008"/>
            <a:ext cx="310896" cy="310896"/>
          </a:xfrm>
          <a:prstGeom prst="ellipse">
            <a:avLst/>
          </a:prstGeom>
          <a:solidFill>
            <a:srgbClr val="00A4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2322576"/>
            <a:ext cx="15087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50" b="1">
                <a:solidFill>
                  <a:srgbClr val="08182C"/>
                </a:solidFill>
              </a:defRPr>
            </a:pPr>
            <a:r>
              <a:t>Regime router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97480" y="2313432"/>
            <a:ext cx="5742432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20" b="0">
                <a:solidFill>
                  <a:srgbClr val="1C2734"/>
                </a:solidFill>
              </a:defRPr>
            </a:pPr>
            <a:r>
              <a:t>A tiny classifier selects specialized expert models for optical conditions rather than assuming one universal mapping.</a:t>
            </a:r>
          </a:p>
        </p:txBody>
      </p:sp>
      <p:sp>
        <p:nvSpPr>
          <p:cNvPr id="18" name="Oval 17"/>
          <p:cNvSpPr/>
          <p:nvPr/>
        </p:nvSpPr>
        <p:spPr>
          <a:xfrm>
            <a:off x="713232" y="3163824"/>
            <a:ext cx="310896" cy="310896"/>
          </a:xfrm>
          <a:prstGeom prst="ellipse">
            <a:avLst/>
          </a:prstGeom>
          <a:solidFill>
            <a:srgbClr val="3F98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20" y="3136392"/>
            <a:ext cx="15087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50" b="1">
                <a:solidFill>
                  <a:srgbClr val="08182C"/>
                </a:solidFill>
              </a:defRPr>
            </a:pPr>
            <a:r>
              <a:t>Chl-a features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97480" y="3127248"/>
            <a:ext cx="5742432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20" b="0">
                <a:solidFill>
                  <a:srgbClr val="1C2734"/>
                </a:solidFill>
              </a:defRPr>
            </a:pPr>
            <a:r>
              <a:t>Blue, green, red, red-edge and narrow-NIR descriptors; MCI/NDCI-like terms; bloom-sensitive ratios.</a:t>
            </a:r>
          </a:p>
        </p:txBody>
      </p:sp>
      <p:sp>
        <p:nvSpPr>
          <p:cNvPr id="21" name="Oval 20"/>
          <p:cNvSpPr/>
          <p:nvPr/>
        </p:nvSpPr>
        <p:spPr>
          <a:xfrm>
            <a:off x="713232" y="3977639"/>
            <a:ext cx="310896" cy="310896"/>
          </a:xfrm>
          <a:prstGeom prst="ellipse">
            <a:avLst/>
          </a:prstGeom>
          <a:solidFill>
            <a:srgbClr val="00A4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88720" y="3950208"/>
            <a:ext cx="15087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50" b="1">
                <a:solidFill>
                  <a:srgbClr val="08182C"/>
                </a:solidFill>
              </a:defRPr>
            </a:pPr>
            <a:r>
              <a:t>Turbidity features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97480" y="3941064"/>
            <a:ext cx="5742432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20" b="0">
                <a:solidFill>
                  <a:srgbClr val="1C2734"/>
                </a:solidFill>
              </a:defRPr>
            </a:pPr>
            <a:r>
              <a:t>Visible-to-SWIR reflectance, red/NIR and sediment-sensitive ratios, local texture, variance and plume-like patch statistics.</a:t>
            </a:r>
          </a:p>
        </p:txBody>
      </p:sp>
      <p:sp>
        <p:nvSpPr>
          <p:cNvPr id="24" name="Oval 23"/>
          <p:cNvSpPr/>
          <p:nvPr/>
        </p:nvSpPr>
        <p:spPr>
          <a:xfrm>
            <a:off x="713232" y="4791455"/>
            <a:ext cx="310896" cy="310896"/>
          </a:xfrm>
          <a:prstGeom prst="ellipse">
            <a:avLst/>
          </a:prstGeom>
          <a:solidFill>
            <a:srgbClr val="3F98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20" y="4764024"/>
            <a:ext cx="15087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50" b="1">
                <a:solidFill>
                  <a:srgbClr val="08182C"/>
                </a:solidFill>
              </a:defRPr>
            </a:pPr>
            <a:r>
              <a:t>Model family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697480" y="4754880"/>
            <a:ext cx="5742432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20" b="0">
                <a:solidFill>
                  <a:srgbClr val="1C2734"/>
                </a:solidFill>
              </a:defRPr>
            </a:pPr>
            <a:r>
              <a:t>Gradient-boosted trees and ExtraTrees remain the mission-critical path; optional quantized neural modules act as residual or anomaly layers.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8368" y="6272784"/>
            <a:ext cx="8138160" cy="13716"/>
          </a:xfrm>
          <a:prstGeom prst="rect">
            <a:avLst/>
          </a:prstGeom>
          <a:solidFill>
            <a:srgbClr val="BED2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" y="6364224"/>
            <a:ext cx="10424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750" b="0">
                <a:solidFill>
                  <a:srgbClr val="5B6C7D"/>
                </a:solidFill>
              </a:defRPr>
            </a:pPr>
            <a:r>
              <a:t>Evidence: Water Research 2024 review; Sentinel-2 Chl-a/TSS literature; OWT + ensemble Chl-a studies.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00A4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217152" y="0"/>
            <a:ext cx="2971800" cy="6858000"/>
          </a:xfrm>
          <a:prstGeom prst="rect">
            <a:avLst/>
          </a:prstGeom>
          <a:solidFill>
            <a:srgbClr val="F4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217152" y="0"/>
            <a:ext cx="36576" cy="6858000"/>
          </a:xfrm>
          <a:prstGeom prst="rect">
            <a:avLst/>
          </a:prstGeom>
          <a:solidFill>
            <a:srgbClr val="BED2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384048"/>
            <a:ext cx="109728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00A4B7"/>
                </a:solidFill>
              </a:defRPr>
            </a:pPr>
            <a:r>
              <a:t>Part IV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713232"/>
            <a:ext cx="78638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08182C"/>
                </a:solidFill>
              </a:defRPr>
            </a:pPr>
            <a:r>
              <a:t>Value and Application Scenarios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53312"/>
            <a:ext cx="781812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550" b="0">
                <a:solidFill>
                  <a:srgbClr val="1C2734"/>
                </a:solidFill>
              </a:defRPr>
            </a:pPr>
            <a:r>
              <a:t>HydroSat creates a downlink product hierarchy so bandwidth is spent on decisions first and imagery only when it matters.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28048" y="868680"/>
            <a:ext cx="214884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1866AB"/>
                </a:solidFill>
              </a:defRPr>
            </a:pPr>
            <a:r>
              <a:t>Downlink ladder:</a:t>
            </a:r>
            <a:br/>
            <a:r>
              <a:t>packet -&gt; thumbnail/mask -&gt; compressed patch -&gt; full scene only if justified</a:t>
            </a:r>
          </a:p>
        </p:txBody>
      </p:sp>
      <p:sp>
        <p:nvSpPr>
          <p:cNvPr id="9" name="Oval 8"/>
          <p:cNvSpPr/>
          <p:nvPr/>
        </p:nvSpPr>
        <p:spPr>
          <a:xfrm>
            <a:off x="9582912" y="4773168"/>
            <a:ext cx="109728" cy="109728"/>
          </a:xfrm>
          <a:prstGeom prst="ellipse">
            <a:avLst/>
          </a:prstGeom>
          <a:solidFill>
            <a:srgbClr val="BED2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875520" y="4773168"/>
            <a:ext cx="109728" cy="109728"/>
          </a:xfrm>
          <a:prstGeom prst="ellipse">
            <a:avLst/>
          </a:prstGeom>
          <a:solidFill>
            <a:srgbClr val="BED2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168128" y="4773168"/>
            <a:ext cx="109728" cy="109728"/>
          </a:xfrm>
          <a:prstGeom prst="ellipse">
            <a:avLst/>
          </a:prstGeom>
          <a:solidFill>
            <a:srgbClr val="BED2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460736" y="4773168"/>
            <a:ext cx="109728" cy="109728"/>
          </a:xfrm>
          <a:prstGeom prst="ellipse">
            <a:avLst/>
          </a:prstGeom>
          <a:solidFill>
            <a:srgbClr val="00A4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753344" y="4773168"/>
            <a:ext cx="109728" cy="109728"/>
          </a:xfrm>
          <a:prstGeom prst="ellipse">
            <a:avLst/>
          </a:prstGeom>
          <a:solidFill>
            <a:srgbClr val="BED2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045952" y="4773168"/>
            <a:ext cx="109728" cy="109728"/>
          </a:xfrm>
          <a:prstGeom prst="ellipse">
            <a:avLst/>
          </a:prstGeom>
          <a:solidFill>
            <a:srgbClr val="BED2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13232" y="2350008"/>
            <a:ext cx="310896" cy="310896"/>
          </a:xfrm>
          <a:prstGeom prst="ellipse">
            <a:avLst/>
          </a:prstGeom>
          <a:solidFill>
            <a:srgbClr val="00A4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2322576"/>
            <a:ext cx="15087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50" b="1">
                <a:solidFill>
                  <a:srgbClr val="08182C"/>
                </a:solidFill>
              </a:defRPr>
            </a:pPr>
            <a:r>
              <a:t>Primary packet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97480" y="2313432"/>
            <a:ext cx="5742432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20" b="0">
                <a:solidFill>
                  <a:srgbClr val="1C2734"/>
                </a:solidFill>
              </a:defRPr>
            </a:pPr>
            <a:r>
              <a:t>Geolocation, timestamp, model version, turbidity/Chl-a estimate, confidence state, mask coverage and health code.</a:t>
            </a:r>
          </a:p>
        </p:txBody>
      </p:sp>
      <p:sp>
        <p:nvSpPr>
          <p:cNvPr id="18" name="Oval 17"/>
          <p:cNvSpPr/>
          <p:nvPr/>
        </p:nvSpPr>
        <p:spPr>
          <a:xfrm>
            <a:off x="713232" y="3163824"/>
            <a:ext cx="310896" cy="310896"/>
          </a:xfrm>
          <a:prstGeom prst="ellipse">
            <a:avLst/>
          </a:prstGeom>
          <a:solidFill>
            <a:srgbClr val="3F98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20" y="3136392"/>
            <a:ext cx="15087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50" b="1">
                <a:solidFill>
                  <a:srgbClr val="08182C"/>
                </a:solidFill>
              </a:defRPr>
            </a:pPr>
            <a:r>
              <a:t>Second tier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97480" y="3127248"/>
            <a:ext cx="5742432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20" b="0">
                <a:solidFill>
                  <a:srgbClr val="1C2734"/>
                </a:solidFill>
              </a:defRPr>
            </a:pPr>
            <a:r>
              <a:t>Thumbnails, masks, anomaly metadata and selected patch summaries for high-risk or uncertain observations.</a:t>
            </a:r>
          </a:p>
        </p:txBody>
      </p:sp>
      <p:sp>
        <p:nvSpPr>
          <p:cNvPr id="21" name="Oval 20"/>
          <p:cNvSpPr/>
          <p:nvPr/>
        </p:nvSpPr>
        <p:spPr>
          <a:xfrm>
            <a:off x="713232" y="3977639"/>
            <a:ext cx="310896" cy="310896"/>
          </a:xfrm>
          <a:prstGeom prst="ellipse">
            <a:avLst/>
          </a:prstGeom>
          <a:solidFill>
            <a:srgbClr val="00A4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88720" y="3950208"/>
            <a:ext cx="15087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50" b="1">
                <a:solidFill>
                  <a:srgbClr val="08182C"/>
                </a:solidFill>
              </a:defRPr>
            </a:pPr>
            <a:r>
              <a:t>Image tier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97480" y="3941064"/>
            <a:ext cx="5742432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20" b="0">
                <a:solidFill>
                  <a:srgbClr val="1C2734"/>
                </a:solidFill>
              </a:defRPr>
            </a:pPr>
            <a:r>
              <a:t>Selected multispectral patches compressed with CCSDS-compatible methods when confidence or anomaly thresholds demand evidence.</a:t>
            </a:r>
          </a:p>
        </p:txBody>
      </p:sp>
      <p:sp>
        <p:nvSpPr>
          <p:cNvPr id="24" name="Oval 23"/>
          <p:cNvSpPr/>
          <p:nvPr/>
        </p:nvSpPr>
        <p:spPr>
          <a:xfrm>
            <a:off x="713232" y="4791455"/>
            <a:ext cx="310896" cy="310896"/>
          </a:xfrm>
          <a:prstGeom prst="ellipse">
            <a:avLst/>
          </a:prstGeom>
          <a:solidFill>
            <a:srgbClr val="3F98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20" y="4764024"/>
            <a:ext cx="15087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50" b="1">
                <a:solidFill>
                  <a:srgbClr val="08182C"/>
                </a:solidFill>
              </a:defRPr>
            </a:pPr>
            <a:r>
              <a:t>Use cases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697480" y="4754880"/>
            <a:ext cx="5742432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20" b="0">
                <a:solidFill>
                  <a:srgbClr val="1C2734"/>
                </a:solidFill>
              </a:defRPr>
            </a:pPr>
            <a:r>
              <a:t>Storm runoff, algal bloom screening, reservoir monitoring, aquaculture alerts, pollution triage and agency prioritization.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8368" y="6272784"/>
            <a:ext cx="8138160" cy="13716"/>
          </a:xfrm>
          <a:prstGeom prst="rect">
            <a:avLst/>
          </a:prstGeom>
          <a:solidFill>
            <a:srgbClr val="BED2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" y="6364224"/>
            <a:ext cx="10424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750" b="0">
                <a:solidFill>
                  <a:srgbClr val="5B6C7D"/>
                </a:solidFill>
              </a:defRPr>
            </a:pPr>
            <a:r>
              <a:t>Evidence: CCSDS 122/123 compression standards; ESA PhiSat-2 onboard compression and selective downlink examples.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00A4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217152" y="0"/>
            <a:ext cx="2971800" cy="6858000"/>
          </a:xfrm>
          <a:prstGeom prst="rect">
            <a:avLst/>
          </a:prstGeom>
          <a:solidFill>
            <a:srgbClr val="F4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217152" y="0"/>
            <a:ext cx="36576" cy="6858000"/>
          </a:xfrm>
          <a:prstGeom prst="rect">
            <a:avLst/>
          </a:prstGeom>
          <a:solidFill>
            <a:srgbClr val="BED2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384048"/>
            <a:ext cx="109728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00A4B7"/>
                </a:solidFill>
              </a:defRPr>
            </a:pPr>
            <a:r>
              <a:t>Part 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713232"/>
            <a:ext cx="78638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08182C"/>
                </a:solidFill>
              </a:defRPr>
            </a:pPr>
            <a:r>
              <a:t>Future Planning and Validation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53312"/>
            <a:ext cx="781812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550" b="0">
                <a:solidFill>
                  <a:srgbClr val="1C2734"/>
                </a:solidFill>
              </a:defRPr>
            </a:pPr>
            <a:r>
              <a:t>The largest technical risk is transfer across water bodies, seasons and optical regimes; validation must be spatially honest.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28048" y="868680"/>
            <a:ext cx="214884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1866AB"/>
                </a:solidFill>
              </a:defRPr>
            </a:pPr>
            <a:r>
              <a:t>Abstention is a feature:</a:t>
            </a:r>
            <a:br/>
            <a:r>
              <a:t>uncertain observations request evidence instead of pretending certainty.</a:t>
            </a:r>
          </a:p>
        </p:txBody>
      </p:sp>
      <p:sp>
        <p:nvSpPr>
          <p:cNvPr id="9" name="Oval 8"/>
          <p:cNvSpPr/>
          <p:nvPr/>
        </p:nvSpPr>
        <p:spPr>
          <a:xfrm>
            <a:off x="9582912" y="4773168"/>
            <a:ext cx="109728" cy="109728"/>
          </a:xfrm>
          <a:prstGeom prst="ellipse">
            <a:avLst/>
          </a:prstGeom>
          <a:solidFill>
            <a:srgbClr val="BED2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875520" y="4773168"/>
            <a:ext cx="109728" cy="109728"/>
          </a:xfrm>
          <a:prstGeom prst="ellipse">
            <a:avLst/>
          </a:prstGeom>
          <a:solidFill>
            <a:srgbClr val="BED2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168128" y="4773168"/>
            <a:ext cx="109728" cy="109728"/>
          </a:xfrm>
          <a:prstGeom prst="ellipse">
            <a:avLst/>
          </a:prstGeom>
          <a:solidFill>
            <a:srgbClr val="BED2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460736" y="4773168"/>
            <a:ext cx="109728" cy="109728"/>
          </a:xfrm>
          <a:prstGeom prst="ellipse">
            <a:avLst/>
          </a:prstGeom>
          <a:solidFill>
            <a:srgbClr val="BED2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753344" y="4773168"/>
            <a:ext cx="109728" cy="109728"/>
          </a:xfrm>
          <a:prstGeom prst="ellipse">
            <a:avLst/>
          </a:prstGeom>
          <a:solidFill>
            <a:srgbClr val="00A4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045952" y="4773168"/>
            <a:ext cx="109728" cy="109728"/>
          </a:xfrm>
          <a:prstGeom prst="ellipse">
            <a:avLst/>
          </a:prstGeom>
          <a:solidFill>
            <a:srgbClr val="BED2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13232" y="2350008"/>
            <a:ext cx="310896" cy="310896"/>
          </a:xfrm>
          <a:prstGeom prst="ellipse">
            <a:avLst/>
          </a:prstGeom>
          <a:solidFill>
            <a:srgbClr val="00A4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2322576"/>
            <a:ext cx="15087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50" b="1">
                <a:solidFill>
                  <a:srgbClr val="08182C"/>
                </a:solidFill>
              </a:defRPr>
            </a:pPr>
            <a:r>
              <a:t>Validation splits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97480" y="2313432"/>
            <a:ext cx="5742432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20" b="0">
                <a:solidFill>
                  <a:srgbClr val="1C2734"/>
                </a:solidFill>
              </a:defRPr>
            </a:pPr>
            <a:r>
              <a:t>Use leave-waterbody-out, leave-basin-out, leave-season-out and leave-regime-out tests, not only random folds.</a:t>
            </a:r>
          </a:p>
        </p:txBody>
      </p:sp>
      <p:sp>
        <p:nvSpPr>
          <p:cNvPr id="18" name="Oval 17"/>
          <p:cNvSpPr/>
          <p:nvPr/>
        </p:nvSpPr>
        <p:spPr>
          <a:xfrm>
            <a:off x="713232" y="3163824"/>
            <a:ext cx="310896" cy="310896"/>
          </a:xfrm>
          <a:prstGeom prst="ellipse">
            <a:avLst/>
          </a:prstGeom>
          <a:solidFill>
            <a:srgbClr val="3F98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20" y="3136392"/>
            <a:ext cx="15087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50" b="1">
                <a:solidFill>
                  <a:srgbClr val="08182C"/>
                </a:solidFill>
              </a:defRPr>
            </a:pPr>
            <a:r>
              <a:t>Uncertainty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97480" y="3127248"/>
            <a:ext cx="5742432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20" b="0">
                <a:solidFill>
                  <a:srgbClr val="1C2734"/>
                </a:solidFill>
              </a:defRPr>
            </a:pPr>
            <a:r>
              <a:t>Report ensemble spread, feature-space distance, valid-water fraction, cloud/shadow risk and expert disagreement.</a:t>
            </a:r>
          </a:p>
        </p:txBody>
      </p:sp>
      <p:sp>
        <p:nvSpPr>
          <p:cNvPr id="21" name="Oval 20"/>
          <p:cNvSpPr/>
          <p:nvPr/>
        </p:nvSpPr>
        <p:spPr>
          <a:xfrm>
            <a:off x="713232" y="3977639"/>
            <a:ext cx="310896" cy="310896"/>
          </a:xfrm>
          <a:prstGeom prst="ellipse">
            <a:avLst/>
          </a:prstGeom>
          <a:solidFill>
            <a:srgbClr val="00A4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88720" y="3950208"/>
            <a:ext cx="15087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50" b="1">
                <a:solidFill>
                  <a:srgbClr val="08182C"/>
                </a:solidFill>
              </a:defRPr>
            </a:pPr>
            <a:r>
              <a:t>Calibration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97480" y="3941064"/>
            <a:ext cx="5742432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20" b="0">
                <a:solidFill>
                  <a:srgbClr val="1C2734"/>
                </a:solidFill>
              </a:defRPr>
            </a:pPr>
            <a:r>
              <a:t>Use matchup-based recalibration and drift monitoring; avoid hard-coded contest distribution priors in real flight operations.</a:t>
            </a:r>
          </a:p>
        </p:txBody>
      </p:sp>
      <p:sp>
        <p:nvSpPr>
          <p:cNvPr id="24" name="Oval 23"/>
          <p:cNvSpPr/>
          <p:nvPr/>
        </p:nvSpPr>
        <p:spPr>
          <a:xfrm>
            <a:off x="713232" y="4791455"/>
            <a:ext cx="310896" cy="310896"/>
          </a:xfrm>
          <a:prstGeom prst="ellipse">
            <a:avLst/>
          </a:prstGeom>
          <a:solidFill>
            <a:srgbClr val="3F98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20" y="4764024"/>
            <a:ext cx="15087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50" b="1">
                <a:solidFill>
                  <a:srgbClr val="08182C"/>
                </a:solidFill>
              </a:defRPr>
            </a:pPr>
            <a:r>
              <a:t>Evolution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697480" y="4754880"/>
            <a:ext cx="5742432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20" b="0">
                <a:solidFill>
                  <a:srgbClr val="1C2734"/>
                </a:solidFill>
              </a:defRPr>
            </a:pPr>
            <a:r>
              <a:t>Distill ensembles after ground validation, add optional neural residuals, and integrate with onboard scheduling/downlink priority.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8368" y="6272784"/>
            <a:ext cx="8138160" cy="13716"/>
          </a:xfrm>
          <a:prstGeom prst="rect">
            <a:avLst/>
          </a:prstGeom>
          <a:solidFill>
            <a:srgbClr val="BED2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" y="6364224"/>
            <a:ext cx="10424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750" b="0">
                <a:solidFill>
                  <a:srgbClr val="5B6C7D"/>
                </a:solidFill>
              </a:defRPr>
            </a:pPr>
            <a:r>
              <a:t>Evidence: geospatial ML validation guidance; water-quality reviews emphasize atmospheric correction, water extraction and transfer risk.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00A4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217152" y="0"/>
            <a:ext cx="2971800" cy="6858000"/>
          </a:xfrm>
          <a:prstGeom prst="rect">
            <a:avLst/>
          </a:prstGeom>
          <a:solidFill>
            <a:srgbClr val="F4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217152" y="0"/>
            <a:ext cx="36576" cy="6858000"/>
          </a:xfrm>
          <a:prstGeom prst="rect">
            <a:avLst/>
          </a:prstGeom>
          <a:solidFill>
            <a:srgbClr val="BED2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384048"/>
            <a:ext cx="109728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00A4B7"/>
                </a:solidFill>
              </a:defRPr>
            </a:pPr>
            <a:r>
              <a:t>Part VI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713232"/>
            <a:ext cx="78638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08182C"/>
                </a:solidFill>
              </a:defRPr>
            </a:pPr>
            <a:r>
              <a:t>Team Introduction and Delivery Plan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53312"/>
            <a:ext cx="781812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550" b="0">
                <a:solidFill>
                  <a:srgbClr val="1C2734"/>
                </a:solidFill>
              </a:defRPr>
            </a:pPr>
            <a:r>
              <a:t>HydroSat Systems has a working competition package and a proposal-grade roadmap from prototype inference to flight-style operations.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28048" y="868680"/>
            <a:ext cx="214884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1866AB"/>
                </a:solidFill>
              </a:defRPr>
            </a:pPr>
            <a:r>
              <a:t>Proposal thesis:</a:t>
            </a:r>
            <a:br/>
            <a:r>
              <a:t>HydroSat moves analysis closer to the sensor.</a:t>
            </a:r>
          </a:p>
        </p:txBody>
      </p:sp>
      <p:sp>
        <p:nvSpPr>
          <p:cNvPr id="9" name="Oval 8"/>
          <p:cNvSpPr/>
          <p:nvPr/>
        </p:nvSpPr>
        <p:spPr>
          <a:xfrm>
            <a:off x="9582912" y="4773168"/>
            <a:ext cx="109728" cy="109728"/>
          </a:xfrm>
          <a:prstGeom prst="ellipse">
            <a:avLst/>
          </a:prstGeom>
          <a:solidFill>
            <a:srgbClr val="BED2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875520" y="4773168"/>
            <a:ext cx="109728" cy="109728"/>
          </a:xfrm>
          <a:prstGeom prst="ellipse">
            <a:avLst/>
          </a:prstGeom>
          <a:solidFill>
            <a:srgbClr val="BED2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168128" y="4773168"/>
            <a:ext cx="109728" cy="109728"/>
          </a:xfrm>
          <a:prstGeom prst="ellipse">
            <a:avLst/>
          </a:prstGeom>
          <a:solidFill>
            <a:srgbClr val="BED2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460736" y="4773168"/>
            <a:ext cx="109728" cy="109728"/>
          </a:xfrm>
          <a:prstGeom prst="ellipse">
            <a:avLst/>
          </a:prstGeom>
          <a:solidFill>
            <a:srgbClr val="BED2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753344" y="4773168"/>
            <a:ext cx="109728" cy="109728"/>
          </a:xfrm>
          <a:prstGeom prst="ellipse">
            <a:avLst/>
          </a:prstGeom>
          <a:solidFill>
            <a:srgbClr val="BED2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045952" y="4773168"/>
            <a:ext cx="109728" cy="109728"/>
          </a:xfrm>
          <a:prstGeom prst="ellipse">
            <a:avLst/>
          </a:prstGeom>
          <a:solidFill>
            <a:srgbClr val="00A4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13232" y="2350008"/>
            <a:ext cx="310896" cy="310896"/>
          </a:xfrm>
          <a:prstGeom prst="ellipse">
            <a:avLst/>
          </a:prstGeom>
          <a:solidFill>
            <a:srgbClr val="00A4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2322576"/>
            <a:ext cx="15087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50" b="1">
                <a:solidFill>
                  <a:srgbClr val="08182C"/>
                </a:solidFill>
              </a:defRPr>
            </a:pPr>
            <a:r>
              <a:t>Current artifact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97480" y="2313432"/>
            <a:ext cx="5742432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20" b="0">
                <a:solidFill>
                  <a:srgbClr val="1C2734"/>
                </a:solidFill>
              </a:defRPr>
            </a:pPr>
            <a:r>
              <a:t>Final package: hydrosat_submission_public_image_direct_500.zip, compact and self-contained for the evaluation harness.</a:t>
            </a:r>
          </a:p>
        </p:txBody>
      </p:sp>
      <p:sp>
        <p:nvSpPr>
          <p:cNvPr id="18" name="Oval 17"/>
          <p:cNvSpPr/>
          <p:nvPr/>
        </p:nvSpPr>
        <p:spPr>
          <a:xfrm>
            <a:off x="713232" y="3163824"/>
            <a:ext cx="310896" cy="310896"/>
          </a:xfrm>
          <a:prstGeom prst="ellipse">
            <a:avLst/>
          </a:prstGeom>
          <a:solidFill>
            <a:srgbClr val="3F98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20" y="3136392"/>
            <a:ext cx="15087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50" b="1">
                <a:solidFill>
                  <a:srgbClr val="08182C"/>
                </a:solidFill>
              </a:defRPr>
            </a:pPr>
            <a:r>
              <a:t>Engineering base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97480" y="3127248"/>
            <a:ext cx="5742432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20" b="0">
                <a:solidFill>
                  <a:srgbClr val="1C2734"/>
                </a:solidFill>
              </a:defRPr>
            </a:pPr>
            <a:r>
              <a:t>Feature extraction, ensemble training, local scoring, sweep automation, JSON packaging and deterministic inference are implemented.</a:t>
            </a:r>
          </a:p>
        </p:txBody>
      </p:sp>
      <p:sp>
        <p:nvSpPr>
          <p:cNvPr id="21" name="Oval 20"/>
          <p:cNvSpPr/>
          <p:nvPr/>
        </p:nvSpPr>
        <p:spPr>
          <a:xfrm>
            <a:off x="713232" y="3977639"/>
            <a:ext cx="310896" cy="310896"/>
          </a:xfrm>
          <a:prstGeom prst="ellipse">
            <a:avLst/>
          </a:prstGeom>
          <a:solidFill>
            <a:srgbClr val="00A4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88720" y="3950208"/>
            <a:ext cx="15087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50" b="1">
                <a:solidFill>
                  <a:srgbClr val="08182C"/>
                </a:solidFill>
              </a:defRPr>
            </a:pPr>
            <a:r>
              <a:t>Upgrade path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97480" y="3941064"/>
            <a:ext cx="5742432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20" b="0">
                <a:solidFill>
                  <a:srgbClr val="1C2734"/>
                </a:solidFill>
              </a:defRPr>
            </a:pPr>
            <a:r>
              <a:t>Replace global regressors with optical-regime routing, add uncertainty/abstention, and align products with selective downlink strategy.</a:t>
            </a:r>
          </a:p>
        </p:txBody>
      </p:sp>
      <p:sp>
        <p:nvSpPr>
          <p:cNvPr id="24" name="Oval 23"/>
          <p:cNvSpPr/>
          <p:nvPr/>
        </p:nvSpPr>
        <p:spPr>
          <a:xfrm>
            <a:off x="713232" y="4791455"/>
            <a:ext cx="310896" cy="310896"/>
          </a:xfrm>
          <a:prstGeom prst="ellipse">
            <a:avLst/>
          </a:prstGeom>
          <a:solidFill>
            <a:srgbClr val="3F98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20" y="4764024"/>
            <a:ext cx="15087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50" b="1">
                <a:solidFill>
                  <a:srgbClr val="08182C"/>
                </a:solidFill>
              </a:defRPr>
            </a:pPr>
            <a:r>
              <a:t>Team fields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697480" y="4754880"/>
            <a:ext cx="5742432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20" b="0">
                <a:solidFill>
                  <a:srgbClr val="1C2734"/>
                </a:solidFill>
              </a:defRPr>
            </a:pPr>
            <a:r>
              <a:t>Names, roles, affiliation and contact email remain editable for final submission.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8368" y="6272784"/>
            <a:ext cx="8138160" cy="13716"/>
          </a:xfrm>
          <a:prstGeom prst="rect">
            <a:avLst/>
          </a:prstGeom>
          <a:solidFill>
            <a:srgbClr val="BED2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" y="6364224"/>
            <a:ext cx="10424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750" b="0">
                <a:solidFill>
                  <a:srgbClr val="5B6C7D"/>
                </a:solidFill>
              </a:defRPr>
            </a:pPr>
            <a:r>
              <a:t>Internal artifact plus referenced ESA/CCSDS/water-quality retrieval evidence.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2025</Words>
  <Application>WPS 演示</Application>
  <PresentationFormat>全屏显示(16:9)</PresentationFormat>
  <Paragraphs>59</Paragraphs>
  <Slides>7</Slides>
  <Notes>7</Notes>
  <HiddenSlides>0</HiddenSlides>
  <MMClips>0</MMClips>
  <ScaleCrop>false</ScaleCrop>
  <HeadingPairs>
    <vt:vector size="6" baseType="variant">
      <vt:variant>
        <vt:lpstr>已用的字体</vt:lpstr>
      </vt:variant>
      <vt:variant>
        <vt:i4>11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7</vt:i4>
      </vt:variant>
    </vt:vector>
  </HeadingPairs>
  <TitlesOfParts>
    <vt:vector size="19" baseType="lpstr">
      <vt:lpstr>Arial</vt:lpstr>
      <vt:lpstr>宋体</vt:lpstr>
      <vt:lpstr>Wingdings</vt:lpstr>
      <vt:lpstr>Arial</vt:lpstr>
      <vt:lpstr>quote-cjk-patch</vt:lpstr>
      <vt:lpstr>Segoe Print</vt:lpstr>
      <vt:lpstr>微软雅黑</vt:lpstr>
      <vt:lpstr>Arial Unicode MS</vt:lpstr>
      <vt:lpstr>quote-cjk-patch</vt:lpstr>
      <vt:lpstr>Times New Roman</vt:lpstr>
      <vt:lpstr>Calibri</vt:lpstr>
      <vt:lpstr>Simple Light</vt:lpstr>
      <vt:lpstr>Application Design and Implementation Plan in a Space-based Computing Environment</vt:lpstr>
      <vt:lpstr>Part 1: Overall Task Implementation Architecture</vt:lpstr>
      <vt:lpstr>Part 2: On-Orbit Implementation Feasibility</vt:lpstr>
      <vt:lpstr>Part 3: Innovativeness of the Implementation Path</vt:lpstr>
      <vt:lpstr>Part 4:  Value and Application Scenarios </vt:lpstr>
      <vt:lpstr>Part 5 Future Planning  </vt:lpstr>
      <vt:lpstr>Part 6  Team Introduction   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Application Design and Implementation Plan in a Space-based Computing Environment</dc:title>
  <dc:creator>ZJ</dc:creator>
  <cp:lastModifiedBy>L木南</cp:lastModifiedBy>
  <cp:revision>10</cp:revision>
  <dcterms:created xsi:type="dcterms:W3CDTF">2026-03-19T08:47:00Z</dcterms:created>
  <dcterms:modified xsi:type="dcterms:W3CDTF">2026-04-02T12:02:16Z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2052-12.1.0.25225</vt:lpwstr>
  </property>
  <property fmtid="{D5CDD505-2E9C-101B-9397-08002B2CF9AE}" pid="3" name="ICV">
    <vt:lpwstr>E606CD0DB29F4EC594C4CBA5588E88A8_12</vt:lpwstr>
  </property>
</Properties>
</file>