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ITU AI and Space Computing Challenge 2026</a:t>
            </a:r>
          </a:p>
        </p:txBody>
      </p:sp>
      <p:sp>
        <p:nvSpPr>
          <p:cNvPr id="3" name="Oval 2"/>
          <p:cNvSpPr/>
          <p:nvPr/>
        </p:nvSpPr>
        <p:spPr>
          <a:xfrm>
            <a:off x="8732520" y="777240"/>
            <a:ext cx="1371600" cy="1371600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89720" y="1234440"/>
            <a:ext cx="914400" cy="914400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685800"/>
            <a:ext cx="658368" cy="658368"/>
          </a:xfrm>
          <a:prstGeom prst="ellipse">
            <a:avLst/>
          </a:prstGeom>
          <a:noFill/>
          <a:ln w="2032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005840"/>
            <a:ext cx="7223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F4F8FF"/>
                </a:solidFill>
                <a:latin typeface="Aptos"/>
              </a:rPr>
              <a:t>HydroSat On-Orbit Water Quality Inference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20C9DA"/>
                </a:solidFill>
                <a:latin typeface="Aptos"/>
              </a:rPr>
              <a:t>Track 2: Space Intelligence Promoting Water Quality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A CPU-first spectral inference pipeline for converting multispectral scenes into calibrated turbidity and chlorophyll-a products in a space-computing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078992"/>
            <a:ext cx="3703320" cy="452628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298448"/>
            <a:ext cx="3200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5B335"/>
                </a:solidFill>
                <a:latin typeface="Aptos"/>
              </a:rPr>
              <a:t>Mission case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Final frozen runtime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B7C2D7"/>
                </a:solidFill>
                <a:latin typeface="Aptos"/>
              </a:rPr>
              <a:t>Point-based 12-band patch inference with target-specific ensembles and released-stat-aware runtime calibration.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Frozen runtime score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4F8FF"/>
                </a:solidFill>
                <a:latin typeface="Aptos"/>
              </a:rPr>
              <a:t>14.58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leaderboard-comparable released-Area8 result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Site-adaptive research</a:t>
            </a:r>
          </a:p>
          <a:p>
            <a:pPr algn="l">
              <a:spcAft>
                <a:spcPts val="300"/>
              </a:spcAft>
            </a:pPr>
            <a:r>
              <a:rPr sz="2000" b="1">
                <a:solidFill>
                  <a:srgbClr val="F4F8FF"/>
                </a:solidFill>
                <a:latin typeface="Aptos"/>
              </a:rPr>
              <a:t>53.95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retrospective monitored-site study, not a leaderboard claim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F4F8FF"/>
                </a:solidFill>
                <a:latin typeface="Aptos"/>
              </a:rPr>
              <a:t>Submission fit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B7C2D7"/>
                </a:solidFill>
                <a:latin typeface="Aptos"/>
              </a:rPr>
              <a:t>Dockerized /input -&gt; /output runtime, no external code downloads, container-ready for GitLab submission.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5303520"/>
            <a:ext cx="6949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4F8FF"/>
                </a:solidFill>
                <a:latin typeface="Aptos"/>
              </a:rPr>
              <a:t>Team: HydroSat Systems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Contact: Arv Bali - baliarv21@gmail.com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Contributors: Arv Bali, Mrinank 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Track 2 final proposal | HydroSat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 | Overall Task Implementation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From mounted point tables to compact water-quality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Implemented baseline logic aligned to the challenge's inference-only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1. Input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CSV request rows + area8 TIFF scenes</a:t>
            </a:r>
          </a:p>
        </p:txBody>
      </p:sp>
      <p:sp>
        <p:nvSpPr>
          <p:cNvPr id="7" name="Chevron 6"/>
          <p:cNvSpPr/>
          <p:nvPr/>
        </p:nvSpPr>
        <p:spPr>
          <a:xfrm>
            <a:off x="2194560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50592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42032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2. Patch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24x24 crops centered on Lon/Lat</a:t>
            </a:r>
          </a:p>
        </p:txBody>
      </p:sp>
      <p:sp>
        <p:nvSpPr>
          <p:cNvPr id="10" name="Chevron 9"/>
          <p:cNvSpPr/>
          <p:nvPr/>
        </p:nvSpPr>
        <p:spPr>
          <a:xfrm>
            <a:off x="4078224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34256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3. Features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1073 spectral, spatial, and seasonal descriptors</a:t>
            </a:r>
          </a:p>
        </p:txBody>
      </p:sp>
      <p:sp>
        <p:nvSpPr>
          <p:cNvPr id="13" name="Chevron 12"/>
          <p:cNvSpPr/>
          <p:nvPr/>
        </p:nvSpPr>
        <p:spPr>
          <a:xfrm>
            <a:off x="5961888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4. Predict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Target-specific ensemble regressors</a:t>
            </a:r>
          </a:p>
        </p:txBody>
      </p:sp>
      <p:sp>
        <p:nvSpPr>
          <p:cNvPr id="16" name="Chevron 15"/>
          <p:cNvSpPr/>
          <p:nvPr/>
        </p:nvSpPr>
        <p:spPr>
          <a:xfrm>
            <a:off x="7845552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1583" y="1965960"/>
            <a:ext cx="1627632" cy="148132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3023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5. Calibrate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Public-stat-aware clipping and ranking logic</a:t>
            </a:r>
          </a:p>
        </p:txBody>
      </p:sp>
      <p:sp>
        <p:nvSpPr>
          <p:cNvPr id="19" name="Chevron 18"/>
          <p:cNvSpPr/>
          <p:nvPr/>
        </p:nvSpPr>
        <p:spPr>
          <a:xfrm>
            <a:off x="9729215" y="2414016"/>
            <a:ext cx="256032" cy="411480"/>
          </a:xfrm>
          <a:prstGeom prst="chevron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85248" y="1965960"/>
            <a:ext cx="1627632" cy="1481328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2121408"/>
            <a:ext cx="1444752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F5B335"/>
                </a:solidFill>
                <a:latin typeface="Aptos"/>
              </a:rPr>
              <a:t>6. Package</a:t>
            </a:r>
          </a:p>
          <a:p>
            <a:pPr algn="ctr">
              <a:spcAft>
                <a:spcPts val="300"/>
              </a:spcAft>
            </a:pPr>
            <a:r>
              <a:rPr sz="900" b="0">
                <a:solidFill>
                  <a:srgbClr val="F4F8FF"/>
                </a:solidFill>
                <a:latin typeface="Aptos"/>
              </a:rPr>
              <a:t>Track 2 JSON outputs to /output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069080"/>
            <a:ext cx="5303520" cy="182880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178808"/>
            <a:ext cx="4974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Repository modules on the critical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507992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paths.py resolves training and inference imagery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raster.py converts Lon/Lat to pixels and reads boundless patches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features.py computes handcrafted spectral-spatial descriptors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infer.py loads models, predicts, calibrates, and writes final 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4069080"/>
            <a:ext cx="5303520" cy="182880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4178808"/>
            <a:ext cx="49743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Why this architecture fits the competition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507992"/>
            <a:ext cx="501091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Inference-only container workflow with deterministic I/O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No training dependency on the competition platform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Small default runtime path without mandatory GPU use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Easy to audit and refine as better models become 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Part I | End-to-end inference architecture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II | On-Orbit Implementation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Resource-aware baseline with a CPU-first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Measured local runtime and artifact footprint used as practical feasibility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Execution time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25.23 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475 released Area8 points end to 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Model footprint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4.84 MB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frozen submission bundle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98464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63056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6B6B"/>
                </a:solidFill>
                <a:latin typeface="Aptos"/>
              </a:rPr>
              <a:t>Frozen runtime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2 models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turbidity + chl-a ensemble bundles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6060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51392" y="1938528"/>
            <a:ext cx="22768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Critical path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CPU-first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CNNs disabled by default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Uplink and output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Input is only the mounted request table and image bundle.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Output is two compact JSON files, not raw image retransmission.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This supports a downlink-first product mindset.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Dependencies and failure handling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Models are preloaded in the image; no runtime downloads are needed.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Optional CNNs stay outside the default inference path.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If model loading fails, inference falls back to safe defaults instead of crashing silently.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3429000"/>
            <a:ext cx="3520440" cy="19659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3538728"/>
            <a:ext cx="31912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Space-computing interpretation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3867912"/>
            <a:ext cx="322783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The final frozen runtime is compact enough to reason about as an onboard service block.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What matters is that the core inference path is bounded, portable, and auditable.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That is easier to harden than a CNN-only submission path.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Released Area8 final frozen score: 14.58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III | Innovativeness of the Implementation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Different from a ground-only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A compact frozen runtime plus a stronger site-adaptive monitoring layer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212080" cy="4434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93392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6B6B"/>
                </a:solidFill>
                <a:latin typeface="Aptos"/>
              </a:rPr>
              <a:t>Ground-only pattern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Large scenes are downlinked first, then interpreted on the ground.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Models often optimize only for leaderboard accuracy, not bounded onboard execution.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B7C2D7"/>
                </a:solidFill>
                <a:latin typeface="Aptos"/>
              </a:rPr>
              <a:t>Failure handling and product triage usually sit outside the model itself.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4768" y="1783080"/>
            <a:ext cx="5394960" cy="443484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993392"/>
            <a:ext cx="4892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0C9DA"/>
                </a:solidFill>
                <a:latin typeface="Aptos"/>
              </a:rPr>
              <a:t>HydroSat path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Use point-centered spectral-spatial features instead of full-scene deep vision on the critical path.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Separate turbidity and chl-a inference so each target can follow a different feature importance pattern.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Keep optional CNNs as an augmentation path rather than a hard runtime dependency.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Add same-site temporal calibration when local monitoring history exists.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F4F8FF"/>
                </a:solidFill>
                <a:latin typeface="Aptos"/>
              </a:rPr>
              <a:t>Prepare for quality gating, uncertainty flags, and selective downlink logic.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quality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regime router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uncertainty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5577840"/>
            <a:ext cx="2240280" cy="384048"/>
          </a:xfrm>
          <a:prstGeom prst="roundRect">
            <a:avLst/>
          </a:prstGeom>
          <a:solidFill>
            <a:srgbClr val="1A253D"/>
          </a:solidFill>
          <a:ln>
            <a:solidFill>
              <a:srgbClr val="F5B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4F8FF"/>
                </a:solidFill>
                <a:latin typeface="Aptos"/>
              </a:rPr>
              <a:t>selective downlink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Current baseline implemented today | next-step mission features identified explicitly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IV | Value, Evidence, and Application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Two honest evidence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Frozen runtime for leaderboard comparison, site-adaptive research for monitored-basin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47088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956816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F6B6B"/>
                </a:solidFill>
                <a:latin typeface="Aptos"/>
              </a:rPr>
              <a:t>Turbidity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10.62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score | RMSE 2.0728 | R2 0.1733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82112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291840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0C9DA"/>
                </a:solidFill>
                <a:latin typeface="Aptos"/>
              </a:rPr>
              <a:t>Chl-a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18.54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score | RMSE 1.1465 | R2 0.0802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17136"/>
            <a:ext cx="2377440" cy="1170432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26864"/>
            <a:ext cx="2048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Frozen algorithm</a:t>
            </a:r>
          </a:p>
          <a:p>
            <a:pPr algn="l">
              <a:spcAft>
                <a:spcPts val="300"/>
              </a:spcAft>
            </a:pPr>
            <a:r>
              <a:rPr sz="2100" b="1">
                <a:solidFill>
                  <a:srgbClr val="F4F8FF"/>
                </a:solidFill>
                <a:latin typeface="Aptos"/>
              </a:rPr>
              <a:t>14.58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7C2D7"/>
                </a:solidFill>
                <a:latin typeface="Aptos"/>
              </a:rPr>
              <a:t>leaderboard-comparable result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1847088"/>
            <a:ext cx="3794760" cy="3977639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956816"/>
            <a:ext cx="34655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Site-adaptive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286000"/>
            <a:ext cx="3502152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Historical local measurements refine repeat-station products.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Retrospective date-held-out research reached 53.95.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This is not a leaderboard replacement score.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It shows why the system becomes stronger after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847088"/>
            <a:ext cx="4251960" cy="3977639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34072" y="1956816"/>
            <a:ext cx="39227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Application scenarios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0648" y="2286000"/>
            <a:ext cx="3959352" cy="3428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Reservoir and river surveillance in data-sparse regions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Storm-event sediment monitoring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Algal bloom early warning triage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Mission operations where downlink is the real bottleneck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Frozen score 14.58 | site-adaptive research 53.95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V | Future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From frozen runtime to adaptive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The next phase is about local calibration, causal validation, and mission-facing product logic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2057400"/>
            <a:ext cx="3246120" cy="23774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0C9DA"/>
                </a:solidFill>
                <a:latin typeface="Aptos"/>
              </a:rPr>
              <a:t>Phase 1 | Final runtime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lock the runnable package, keep the evaluation path reproducible, and preserve the container workflow</a:t>
            </a:r>
          </a:p>
        </p:txBody>
      </p:sp>
      <p:sp>
        <p:nvSpPr>
          <p:cNvPr id="7" name="Chevron 6"/>
          <p:cNvSpPr/>
          <p:nvPr/>
        </p:nvSpPr>
        <p:spPr>
          <a:xfrm>
            <a:off x="4096512" y="2944368"/>
            <a:ext cx="256032" cy="438912"/>
          </a:xfrm>
          <a:prstGeom prst="chevron">
            <a:avLst/>
          </a:prstGeom>
          <a:solidFill>
            <a:srgbClr val="F4F8FF"/>
          </a:solidFill>
          <a:ln>
            <a:solidFill>
              <a:srgbClr val="F4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53712" y="2057400"/>
            <a:ext cx="3246120" cy="237744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18304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Phase 2 | Site adaptation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productionize local calibration with uncertainty-aware fallbacks and causal validation</a:t>
            </a:r>
          </a:p>
        </p:txBody>
      </p:sp>
      <p:sp>
        <p:nvSpPr>
          <p:cNvPr id="10" name="Chevron 9"/>
          <p:cNvSpPr/>
          <p:nvPr/>
        </p:nvSpPr>
        <p:spPr>
          <a:xfrm>
            <a:off x="7863840" y="2944368"/>
            <a:ext cx="256032" cy="438912"/>
          </a:xfrm>
          <a:prstGeom prst="chevron">
            <a:avLst/>
          </a:prstGeom>
          <a:solidFill>
            <a:srgbClr val="F4F8FF"/>
          </a:solidFill>
          <a:ln>
            <a:solidFill>
              <a:srgbClr val="F4F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21040" y="2057400"/>
            <a:ext cx="3246120" cy="23774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2286000"/>
            <a:ext cx="2907792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6B6B"/>
                </a:solidFill>
                <a:latin typeface="Aptos"/>
              </a:rPr>
              <a:t>Phase 3 | Mission productization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improve turbidity robustness, add regime routing, and tie downlink to confidence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4892040"/>
            <a:ext cx="10698480" cy="105156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5001768"/>
            <a:ext cx="1036929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Planned technical upgrades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330952"/>
            <a:ext cx="104058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causal forward-only adaptation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stronger uncertainty estimates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lighter default model bundle</a:t>
            </a:r>
          </a:p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downlink prioritization tied to confidence and mission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Future plan | improve reliability first, then onboard intelligence breadth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56032"/>
            <a:ext cx="3108960" cy="329184"/>
          </a:xfrm>
          <a:prstGeom prst="roundRect">
            <a:avLst/>
          </a:prstGeom>
          <a:solidFill>
            <a:srgbClr val="20C9DA"/>
          </a:solidFill>
          <a:ln>
            <a:solidFill>
              <a:srgbClr val="20C9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020"/>
                </a:solidFill>
                <a:latin typeface="Aptos"/>
              </a:rPr>
              <a:t>Part VI | Team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7589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4F8FF"/>
                </a:solidFill>
                <a:latin typeface="Aptos Display"/>
              </a:rPr>
              <a:t>HydroSat Systems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80467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B7C2D7"/>
                </a:solidFill>
                <a:latin typeface="Aptos"/>
              </a:rPr>
              <a:t>Two-person build team covering modeling, evaluation, deployment, and proposal delivery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" y="1901952"/>
            <a:ext cx="150876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993392"/>
            <a:ext cx="1362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Name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901952"/>
            <a:ext cx="132588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04872" y="1993392"/>
            <a:ext cx="11795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Role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1901952"/>
            <a:ext cx="416052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95344" y="1993392"/>
            <a:ext cx="401421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Responsibilities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02752" y="1901952"/>
            <a:ext cx="3200400" cy="502920"/>
          </a:xfrm>
          <a:prstGeom prst="roundRect">
            <a:avLst/>
          </a:prstGeom>
          <a:solidFill>
            <a:srgbClr val="1A253D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1993392"/>
            <a:ext cx="3054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5B335"/>
                </a:solidFill>
                <a:latin typeface="Aptos"/>
              </a:rPr>
              <a:t>Expertise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" y="2514600"/>
            <a:ext cx="150876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24328"/>
            <a:ext cx="128930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Arv Bali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2514600"/>
            <a:ext cx="132588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624328"/>
            <a:ext cx="11064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Team Lead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22191" y="2514600"/>
            <a:ext cx="416052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624328"/>
            <a:ext cx="394106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modeling direction, submission ownership, proposal narrative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2752" y="2514600"/>
            <a:ext cx="320040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624328"/>
            <a:ext cx="2980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ML experimentation, challenge strategy, delivery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" y="3794760"/>
            <a:ext cx="150876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904488"/>
            <a:ext cx="128930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Mrinank 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794760"/>
            <a:ext cx="132588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41448" y="3904488"/>
            <a:ext cx="11064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ML and Systems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3794760"/>
            <a:ext cx="416052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3904488"/>
            <a:ext cx="3941063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repo cleanup, evaluation tooling, environment setup, runtime 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2752" y="3794760"/>
            <a:ext cx="3200400" cy="1005840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904488"/>
            <a:ext cx="298094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F4F8FF"/>
                </a:solidFill>
                <a:latin typeface="Aptos"/>
              </a:rPr>
              <a:t>Python, geospatial tooling, packaging, infrastructure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9808" y="5138928"/>
            <a:ext cx="10835640" cy="749808"/>
          </a:xfrm>
          <a:prstGeom prst="roundRect">
            <a:avLst/>
          </a:prstGeom>
          <a:solidFill>
            <a:srgbClr val="141C31"/>
          </a:solidFill>
          <a:ln w="12700">
            <a:solidFill>
              <a:srgbClr val="36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248656"/>
            <a:ext cx="1050645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B335"/>
                </a:solidFill>
                <a:latin typeface="Aptos"/>
              </a:rPr>
              <a:t>Closing 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0976" y="5577840"/>
            <a:ext cx="105430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F4F8FF"/>
                </a:solidFill>
                <a:latin typeface="Aptos"/>
              </a:defRPr>
            </a:pPr>
            <a:r>
              <a:t>HydroSat already provides a real, reproducible, container-ready baseline today, and our next step is to make that baseline more robust as an onboard water-intelligence system.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B7C2D7"/>
                </a:solidFill>
                <a:latin typeface="Aptos"/>
              </a:rPr>
              <a:t>HydroSat Systems | contact: baliarv21@gmail.com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