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ITU AI and Space Computing Challenge 2026</a:t>
            </a:r>
          </a:p>
        </p:txBody>
      </p:sp>
      <p:sp>
        <p:nvSpPr>
          <p:cNvPr id="3" name="Oval 2"/>
          <p:cNvSpPr/>
          <p:nvPr/>
        </p:nvSpPr>
        <p:spPr>
          <a:xfrm>
            <a:off x="1188720" y="2537459"/>
            <a:ext cx="1371600" cy="1371600"/>
          </a:xfrm>
          <a:prstGeom prst="ellipse">
            <a:avLst/>
          </a:prstGeom>
          <a:noFill/>
          <a:ln w="2032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532120" y="3108960"/>
            <a:ext cx="914400" cy="914400"/>
          </a:xfrm>
          <a:prstGeom prst="ellipse">
            <a:avLst/>
          </a:prstGeom>
          <a:noFill/>
          <a:ln w="2032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779521" y="4069080"/>
            <a:ext cx="658368" cy="658368"/>
          </a:xfrm>
          <a:prstGeom prst="ellipse">
            <a:avLst/>
          </a:prstGeom>
          <a:noFill/>
          <a:ln w="2032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7764" y="791173"/>
            <a:ext cx="7941564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dirty="0" err="1">
                <a:solidFill>
                  <a:srgbClr val="F4F8FF"/>
                </a:solidFill>
                <a:latin typeface="Aptos"/>
              </a:rPr>
              <a:t>HydroSat</a:t>
            </a:r>
            <a:r>
              <a:rPr sz="2800" b="1" dirty="0">
                <a:solidFill>
                  <a:srgbClr val="F4F8FF"/>
                </a:solidFill>
                <a:latin typeface="Aptos"/>
              </a:rPr>
              <a:t> On-Orbit Water Quality Inference</a:t>
            </a:r>
          </a:p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20C9DA"/>
                </a:solidFill>
                <a:latin typeface="Aptos"/>
              </a:rPr>
              <a:t>Track 2: Space Intelligence Promoting Water Quality</a:t>
            </a:r>
          </a:p>
          <a:p>
            <a:pPr algn="l">
              <a:spcAft>
                <a:spcPts val="300"/>
              </a:spcAft>
            </a:pPr>
            <a:r>
              <a:rPr sz="1200" b="0" dirty="0">
                <a:solidFill>
                  <a:srgbClr val="B7C2D7"/>
                </a:solidFill>
                <a:latin typeface="Aptos"/>
              </a:rPr>
              <a:t>A CPU-first spectral inference pipeline for converting multispectral scenes into calibrated turbidity and chlorophyll-a products in a space-computing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645920"/>
            <a:ext cx="3703320" cy="452628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39328" y="1858498"/>
            <a:ext cx="3200400" cy="410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dirty="0">
                <a:solidFill>
                  <a:srgbClr val="F5B335"/>
                </a:solidFill>
                <a:latin typeface="Aptos"/>
              </a:rPr>
              <a:t>Mission case</a:t>
            </a:r>
          </a:p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F4F8FF"/>
                </a:solidFill>
                <a:latin typeface="Aptos"/>
              </a:rPr>
              <a:t>Final frozen runtime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B7C2D7"/>
                </a:solidFill>
                <a:latin typeface="Aptos"/>
              </a:rPr>
              <a:t>Point-based 12-band patch inference with target-specific ensembles and released-stat-aware runtime calibration.</a:t>
            </a:r>
          </a:p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F4F8FF"/>
                </a:solidFill>
                <a:latin typeface="Aptos"/>
              </a:rPr>
              <a:t>Frozen runtime score</a:t>
            </a:r>
          </a:p>
          <a:p>
            <a:pPr algn="l">
              <a:spcAft>
                <a:spcPts val="300"/>
              </a:spcAft>
            </a:pPr>
            <a:r>
              <a:rPr sz="3600" b="1" dirty="0">
                <a:solidFill>
                  <a:srgbClr val="F4F8FF"/>
                </a:solidFill>
                <a:latin typeface="Aptos"/>
              </a:rPr>
              <a:t>14.58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B7C2D7"/>
                </a:solidFill>
                <a:latin typeface="Aptos"/>
              </a:rPr>
              <a:t>leaderboard-comparable released-Area8 result</a:t>
            </a:r>
          </a:p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F4F8FF"/>
                </a:solidFill>
                <a:latin typeface="Aptos"/>
              </a:rPr>
              <a:t>Site-adaptive research</a:t>
            </a:r>
          </a:p>
          <a:p>
            <a:pPr algn="l">
              <a:spcAft>
                <a:spcPts val="300"/>
              </a:spcAft>
            </a:pPr>
            <a:r>
              <a:rPr sz="2800" b="1" dirty="0">
                <a:solidFill>
                  <a:srgbClr val="F4F8FF"/>
                </a:solidFill>
                <a:latin typeface="Aptos"/>
              </a:rPr>
              <a:t>53.95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B7C2D7"/>
                </a:solidFill>
                <a:latin typeface="Aptos"/>
              </a:rPr>
              <a:t>retrospective monitored-site study, not a leaderboard claim</a:t>
            </a:r>
          </a:p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F4F8FF"/>
                </a:solidFill>
                <a:latin typeface="Aptos"/>
              </a:rPr>
              <a:t>Submission fit</a:t>
            </a:r>
          </a:p>
          <a:p>
            <a:pPr algn="l">
              <a:spcAft>
                <a:spcPts val="300"/>
              </a:spcAft>
            </a:pPr>
            <a:r>
              <a:rPr sz="1100" b="0" dirty="0" err="1">
                <a:solidFill>
                  <a:srgbClr val="B7C2D7"/>
                </a:solidFill>
                <a:latin typeface="Aptos"/>
              </a:rPr>
              <a:t>Dockerized</a:t>
            </a:r>
            <a:r>
              <a:rPr sz="1100" b="0" dirty="0">
                <a:solidFill>
                  <a:srgbClr val="B7C2D7"/>
                </a:solidFill>
                <a:latin typeface="Aptos"/>
              </a:rPr>
              <a:t> /input -&gt; /output runtime, no external code downloads, container-ready for GitLab submission.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272" y="5422392"/>
            <a:ext cx="694944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F4F8FF"/>
                </a:solidFill>
                <a:latin typeface="Aptos"/>
              </a:rPr>
              <a:t>Team: </a:t>
            </a:r>
            <a:r>
              <a:rPr sz="1400" b="1" dirty="0" err="1">
                <a:solidFill>
                  <a:srgbClr val="F4F8FF"/>
                </a:solidFill>
                <a:latin typeface="Aptos"/>
              </a:rPr>
              <a:t>HydroSat</a:t>
            </a:r>
            <a:r>
              <a:rPr sz="1400" b="1" dirty="0">
                <a:solidFill>
                  <a:srgbClr val="F4F8FF"/>
                </a:solidFill>
                <a:latin typeface="Aptos"/>
              </a:rPr>
              <a:t> Systems</a:t>
            </a:r>
          </a:p>
          <a:p>
            <a:pPr algn="l">
              <a:spcAft>
                <a:spcPts val="300"/>
              </a:spcAft>
            </a:pPr>
            <a:r>
              <a:rPr sz="1200" b="0" dirty="0">
                <a:solidFill>
                  <a:srgbClr val="B7C2D7"/>
                </a:solidFill>
                <a:latin typeface="Aptos"/>
              </a:rPr>
              <a:t>Contact: Arv Bali - baliarv21@gmail.com</a:t>
            </a:r>
          </a:p>
          <a:p>
            <a:pPr algn="l">
              <a:spcAft>
                <a:spcPts val="300"/>
              </a:spcAft>
            </a:pPr>
            <a:r>
              <a:rPr sz="1200" b="0" dirty="0">
                <a:solidFill>
                  <a:srgbClr val="B7C2D7"/>
                </a:solidFill>
                <a:latin typeface="Aptos"/>
              </a:rPr>
              <a:t>Contributors: Arv Bali, Mrinank 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Track 2 final proposal | HydroSat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I | Overall Task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4F8FF"/>
                </a:solidFill>
                <a:latin typeface="Aptos Display"/>
              </a:rPr>
              <a:t>From mounted point tables to compact water-quality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046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7C2D7"/>
                </a:solidFill>
                <a:latin typeface="Aptos"/>
              </a:rPr>
              <a:t>Implemented baseline logic aligned to the challenge's inference-only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1627632" cy="1481328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144475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b="1" dirty="0">
                <a:solidFill>
                  <a:srgbClr val="F5B335"/>
                </a:solidFill>
                <a:latin typeface="Aptos"/>
              </a:rPr>
              <a:t>1. Input</a:t>
            </a:r>
          </a:p>
          <a:p>
            <a:pPr algn="ctr">
              <a:spcAft>
                <a:spcPts val="300"/>
              </a:spcAft>
            </a:pPr>
            <a:r>
              <a:rPr sz="1100" b="0" dirty="0">
                <a:solidFill>
                  <a:srgbClr val="F4F8FF"/>
                </a:solidFill>
                <a:latin typeface="Aptos"/>
              </a:rPr>
              <a:t>CSV request rows + area8 TIFF scenes</a:t>
            </a:r>
          </a:p>
        </p:txBody>
      </p:sp>
      <p:sp>
        <p:nvSpPr>
          <p:cNvPr id="7" name="Chevron 6"/>
          <p:cNvSpPr/>
          <p:nvPr/>
        </p:nvSpPr>
        <p:spPr>
          <a:xfrm>
            <a:off x="2194560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0592" y="1965960"/>
            <a:ext cx="1627632" cy="1481328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42032" y="2121408"/>
            <a:ext cx="144475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b="1">
                <a:solidFill>
                  <a:srgbClr val="F5B335"/>
                </a:solidFill>
                <a:latin typeface="Aptos"/>
              </a:rPr>
              <a:t>2. Patch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24x24 crops centered on Lon/Lat</a:t>
            </a:r>
          </a:p>
        </p:txBody>
      </p:sp>
      <p:sp>
        <p:nvSpPr>
          <p:cNvPr id="10" name="Chevron 9"/>
          <p:cNvSpPr/>
          <p:nvPr/>
        </p:nvSpPr>
        <p:spPr>
          <a:xfrm>
            <a:off x="4078224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34256" y="1965960"/>
            <a:ext cx="1627632" cy="1481328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5696" y="2121408"/>
            <a:ext cx="1444752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b="1">
                <a:solidFill>
                  <a:srgbClr val="F5B335"/>
                </a:solidFill>
                <a:latin typeface="Aptos"/>
              </a:rPr>
              <a:t>3. Features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1073 spectral, spatial, and seasonal descriptors</a:t>
            </a:r>
          </a:p>
        </p:txBody>
      </p:sp>
      <p:sp>
        <p:nvSpPr>
          <p:cNvPr id="13" name="Chevron 12"/>
          <p:cNvSpPr/>
          <p:nvPr/>
        </p:nvSpPr>
        <p:spPr>
          <a:xfrm>
            <a:off x="5961888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1627632" cy="1481328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121408"/>
            <a:ext cx="1444752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b="1">
                <a:solidFill>
                  <a:srgbClr val="F5B335"/>
                </a:solidFill>
                <a:latin typeface="Aptos"/>
              </a:rPr>
              <a:t>4. Predict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Target-specific ensemble regressors</a:t>
            </a:r>
          </a:p>
        </p:txBody>
      </p:sp>
      <p:sp>
        <p:nvSpPr>
          <p:cNvPr id="16" name="Chevron 15"/>
          <p:cNvSpPr/>
          <p:nvPr/>
        </p:nvSpPr>
        <p:spPr>
          <a:xfrm>
            <a:off x="7845552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01583" y="1965960"/>
            <a:ext cx="1627632" cy="1481328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2121408"/>
            <a:ext cx="1444752" cy="91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b="1">
                <a:solidFill>
                  <a:srgbClr val="F5B335"/>
                </a:solidFill>
                <a:latin typeface="Aptos"/>
              </a:rPr>
              <a:t>5. Calibrate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Public-stat-aware clipping and ranking logic</a:t>
            </a:r>
          </a:p>
        </p:txBody>
      </p:sp>
      <p:sp>
        <p:nvSpPr>
          <p:cNvPr id="19" name="Chevron 18"/>
          <p:cNvSpPr/>
          <p:nvPr/>
        </p:nvSpPr>
        <p:spPr>
          <a:xfrm>
            <a:off x="9729215" y="2414016"/>
            <a:ext cx="256032" cy="411480"/>
          </a:xfrm>
          <a:prstGeom prst="chevron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985248" y="1965960"/>
            <a:ext cx="1627632" cy="1481328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76688" y="2121408"/>
            <a:ext cx="144475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b="1">
                <a:solidFill>
                  <a:srgbClr val="F5B335"/>
                </a:solidFill>
                <a:latin typeface="Aptos"/>
              </a:rPr>
              <a:t>6. Package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F4F8FF"/>
                </a:solidFill>
                <a:latin typeface="Aptos"/>
              </a:rPr>
              <a:t>Track 2 JSON outputs to /output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069080"/>
            <a:ext cx="5303520" cy="182880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178808"/>
            <a:ext cx="4974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Repository modules on the critical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507992"/>
            <a:ext cx="5010912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paths.py resolves training and inference imagery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raster.py converts Lon/Lat to pixels and reads boundless patches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features.py computes handcrafted spectral-spatial descriptors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infer.py loads models, predicts, calibrates, and writes final 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069080"/>
            <a:ext cx="5303520" cy="182880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64224" y="4178808"/>
            <a:ext cx="4974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Why this architecture fits the competition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07992"/>
            <a:ext cx="5010912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Inference-only container workflow with deterministic I/O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No training dependency on the competition platform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Small default runtime path without mandatory GPU use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Easy to audit and refine as better models become 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Part I | End-to-end inference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II | On-Orbit Implementation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6230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8FF"/>
                </a:solidFill>
                <a:latin typeface="Aptos Display"/>
              </a:rPr>
              <a:t>Resource-aware baseline with a CPU-first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1689"/>
            <a:ext cx="65369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B7C2D7"/>
                </a:solidFill>
                <a:latin typeface="Aptos"/>
              </a:rPr>
              <a:t>Measured local runtime and artifact footprint used as practical feasibility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26060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38528"/>
            <a:ext cx="227685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20C9DA"/>
                </a:solidFill>
                <a:latin typeface="Aptos"/>
              </a:rPr>
              <a:t>Execution time</a:t>
            </a:r>
          </a:p>
          <a:p>
            <a:pPr algn="l">
              <a:spcAft>
                <a:spcPts val="300"/>
              </a:spcAft>
            </a:pPr>
            <a:r>
              <a:rPr sz="2400" b="1" dirty="0">
                <a:solidFill>
                  <a:srgbClr val="F4F8FF"/>
                </a:solidFill>
                <a:latin typeface="Aptos"/>
              </a:rPr>
              <a:t>25.23 s</a:t>
            </a: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B7C2D7"/>
                </a:solidFill>
                <a:latin typeface="Aptos"/>
              </a:rPr>
              <a:t>475 released Area8 points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828800"/>
            <a:ext cx="26060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938528"/>
            <a:ext cx="2276856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B335"/>
                </a:solidFill>
                <a:latin typeface="Aptos"/>
              </a:rPr>
              <a:t>Model footprint</a:t>
            </a:r>
          </a:p>
          <a:p>
            <a:pPr algn="l">
              <a:spcAft>
                <a:spcPts val="300"/>
              </a:spcAft>
            </a:pPr>
            <a:r>
              <a:rPr sz="2400" b="1">
                <a:solidFill>
                  <a:srgbClr val="F4F8FF"/>
                </a:solidFill>
                <a:latin typeface="Aptos"/>
              </a:rPr>
              <a:t>4.84 MB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B7C2D7"/>
                </a:solidFill>
                <a:latin typeface="Aptos"/>
              </a:rPr>
              <a:t>frozen submission bundle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98464" y="1828800"/>
            <a:ext cx="26060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63056" y="1938528"/>
            <a:ext cx="2276856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6B6B"/>
                </a:solidFill>
                <a:latin typeface="Aptos"/>
              </a:rPr>
              <a:t>Frozen runtime</a:t>
            </a:r>
          </a:p>
          <a:p>
            <a:pPr algn="l">
              <a:spcAft>
                <a:spcPts val="300"/>
              </a:spcAft>
            </a:pPr>
            <a:r>
              <a:rPr sz="2400" b="1">
                <a:solidFill>
                  <a:srgbClr val="F4F8FF"/>
                </a:solidFill>
                <a:latin typeface="Aptos"/>
              </a:rPr>
              <a:t>2 models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B7C2D7"/>
                </a:solidFill>
                <a:latin typeface="Aptos"/>
              </a:rPr>
              <a:t>turbidity + chl-a ensemble bundles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828800"/>
            <a:ext cx="26060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51392" y="1938528"/>
            <a:ext cx="2276856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0C9DA"/>
                </a:solidFill>
                <a:latin typeface="Aptos"/>
              </a:rPr>
              <a:t>Critical path</a:t>
            </a:r>
          </a:p>
          <a:p>
            <a:pPr algn="l">
              <a:spcAft>
                <a:spcPts val="300"/>
              </a:spcAft>
            </a:pPr>
            <a:r>
              <a:rPr sz="2400" b="1">
                <a:solidFill>
                  <a:srgbClr val="F4F8FF"/>
                </a:solidFill>
                <a:latin typeface="Aptos"/>
              </a:rPr>
              <a:t>CPU-first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B7C2D7"/>
                </a:solidFill>
                <a:latin typeface="Aptos"/>
              </a:rPr>
              <a:t>CNNs disabled by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429000"/>
            <a:ext cx="3520440" cy="196596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3538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Uplink and output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67912"/>
            <a:ext cx="3227832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Input is only the mounted request table and image bundle.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Output is two compact JSON files, not raw image retransmission.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This supports a downlink-first product mindset.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3429000"/>
            <a:ext cx="3520440" cy="196596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3538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Dependencies and failure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867912"/>
            <a:ext cx="3227832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Models are preloaded in the image; no runtime downloads are needed.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Optional CNNs stay outside the default inference path.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If model loading fails, inference falls back to safe defaults instead of crashing silently.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429000"/>
            <a:ext cx="3520440" cy="196596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6" y="3538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Space-computing 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867912"/>
            <a:ext cx="3227832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The final frozen runtime is compact enough to reason about as an onboard service block.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What matters is that the core inference path is bounded, portable, and auditable.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That is easier to harden than a CNN-only submission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Released Area8 final frozen score: 14.58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III | Innovativeness of the Implementation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68306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8FF"/>
                </a:solidFill>
                <a:latin typeface="Aptos Display"/>
              </a:rPr>
              <a:t>Different from a ground-only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0694"/>
            <a:ext cx="57049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B7C2D7"/>
                </a:solidFill>
                <a:latin typeface="Aptos"/>
              </a:rPr>
              <a:t>A compact frozen runtime plus a stronger site-adaptive monitoring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4434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754880" cy="1777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dirty="0">
                <a:solidFill>
                  <a:srgbClr val="FF6B6B"/>
                </a:solidFill>
                <a:latin typeface="Aptos"/>
              </a:rPr>
              <a:t>Ground-only pattern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B7C2D7"/>
                </a:solidFill>
                <a:latin typeface="Aptos"/>
              </a:rPr>
              <a:t>Large scenes are downlinked first, then interpreted on the ground.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B7C2D7"/>
                </a:solidFill>
                <a:latin typeface="Aptos"/>
              </a:rPr>
              <a:t>Models often optimize only for leaderboard accuracy, not bounded onboard execution.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B7C2D7"/>
                </a:solidFill>
                <a:latin typeface="Aptos"/>
              </a:rPr>
              <a:t>Failure handling and product triage usually sit outside the model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783080"/>
            <a:ext cx="5394960" cy="443484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2512" y="1993392"/>
            <a:ext cx="4892040" cy="2716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b="1" dirty="0" err="1">
                <a:solidFill>
                  <a:srgbClr val="20C9DA"/>
                </a:solidFill>
                <a:latin typeface="Aptos"/>
              </a:rPr>
              <a:t>HydroSat</a:t>
            </a:r>
            <a:r>
              <a:rPr b="1" dirty="0">
                <a:solidFill>
                  <a:srgbClr val="20C9DA"/>
                </a:solidFill>
                <a:latin typeface="Aptos"/>
              </a:rPr>
              <a:t> path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F4F8FF"/>
                </a:solidFill>
                <a:latin typeface="Aptos"/>
              </a:rPr>
              <a:t>Use point-centered spectral-spatial features instead of full-scene deep vision on the critical path.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F4F8FF"/>
                </a:solidFill>
                <a:latin typeface="Aptos"/>
              </a:rPr>
              <a:t>Separate turbidity and </a:t>
            </a:r>
            <a:r>
              <a:rPr sz="1400" b="0" dirty="0" err="1">
                <a:solidFill>
                  <a:srgbClr val="F4F8FF"/>
                </a:solidFill>
                <a:latin typeface="Aptos"/>
              </a:rPr>
              <a:t>chl</a:t>
            </a:r>
            <a:r>
              <a:rPr sz="1400" b="0" dirty="0">
                <a:solidFill>
                  <a:srgbClr val="F4F8FF"/>
                </a:solidFill>
                <a:latin typeface="Aptos"/>
              </a:rPr>
              <a:t>-a inference so each target can follow a different feature importance pattern.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F4F8FF"/>
                </a:solidFill>
                <a:latin typeface="Aptos"/>
              </a:rPr>
              <a:t>Keep optional CNNs as an augmentation path rather than a hard runtime dependency.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F4F8FF"/>
                </a:solidFill>
                <a:latin typeface="Aptos"/>
              </a:rPr>
              <a:t>Add same-site temporal calibration when local monitoring history exists.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F4F8FF"/>
                </a:solidFill>
                <a:latin typeface="Aptos"/>
              </a:rPr>
              <a:t>Prepare for quality gating, uncertainty flags, and selective downlink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0246" y="5202936"/>
            <a:ext cx="2240280" cy="384048"/>
          </a:xfrm>
          <a:prstGeom prst="roundRect">
            <a:avLst/>
          </a:prstGeom>
          <a:solidFill>
            <a:srgbClr val="1A253D"/>
          </a:solidFill>
          <a:ln>
            <a:solidFill>
              <a:srgbClr val="F5B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8FF"/>
                </a:solidFill>
                <a:latin typeface="Aptos"/>
              </a:rPr>
              <a:t>quality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3134" y="5202936"/>
            <a:ext cx="2240280" cy="384048"/>
          </a:xfrm>
          <a:prstGeom prst="roundRect">
            <a:avLst/>
          </a:prstGeom>
          <a:solidFill>
            <a:srgbClr val="1A253D"/>
          </a:solidFill>
          <a:ln>
            <a:solidFill>
              <a:srgbClr val="F5B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8FF"/>
                </a:solidFill>
                <a:latin typeface="Aptos"/>
              </a:rPr>
              <a:t>regime 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5202936"/>
            <a:ext cx="2240280" cy="384048"/>
          </a:xfrm>
          <a:prstGeom prst="roundRect">
            <a:avLst/>
          </a:prstGeom>
          <a:solidFill>
            <a:srgbClr val="1A253D"/>
          </a:solidFill>
          <a:ln>
            <a:solidFill>
              <a:srgbClr val="F5B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8FF"/>
                </a:solidFill>
                <a:latin typeface="Aptos"/>
              </a:rPr>
              <a:t>uncertainty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5202936"/>
            <a:ext cx="2240280" cy="384048"/>
          </a:xfrm>
          <a:prstGeom prst="roundRect">
            <a:avLst/>
          </a:prstGeom>
          <a:solidFill>
            <a:srgbClr val="1A253D"/>
          </a:solidFill>
          <a:ln>
            <a:solidFill>
              <a:srgbClr val="F5B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F8FF"/>
                </a:solidFill>
                <a:latin typeface="Aptos"/>
              </a:rPr>
              <a:t>selective downlink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Current baseline implemented today | next-step mission features identified explicitly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IV | Value, Evidence, and Application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497213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8FF"/>
                </a:solidFill>
                <a:latin typeface="Aptos Display"/>
              </a:rPr>
              <a:t>Two honest evidence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9577"/>
            <a:ext cx="73974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B7C2D7"/>
                </a:solidFill>
                <a:latin typeface="Aptos"/>
              </a:rPr>
              <a:t>Frozen runtime for leaderboard comparison, site-adaptive research for monitored-basin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47088"/>
            <a:ext cx="23774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956816"/>
            <a:ext cx="204825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FF6B6B"/>
                </a:solidFill>
                <a:latin typeface="Aptos"/>
              </a:rPr>
              <a:t>Turbidity</a:t>
            </a:r>
          </a:p>
          <a:p>
            <a:pPr algn="l">
              <a:spcAft>
                <a:spcPts val="300"/>
              </a:spcAft>
            </a:pPr>
            <a:r>
              <a:rPr sz="2800" b="1" dirty="0">
                <a:solidFill>
                  <a:srgbClr val="F4F8FF"/>
                </a:solidFill>
                <a:latin typeface="Aptos"/>
              </a:rPr>
              <a:t>10.62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B7C2D7"/>
                </a:solidFill>
                <a:latin typeface="Aptos"/>
              </a:rPr>
              <a:t>score | RMSE 2.0728 | R2 0.1733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82112"/>
            <a:ext cx="23774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291840"/>
            <a:ext cx="204825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0C9DA"/>
                </a:solidFill>
                <a:latin typeface="Aptos"/>
              </a:rPr>
              <a:t>Chl-a</a:t>
            </a:r>
          </a:p>
          <a:p>
            <a:pPr algn="l">
              <a:spcAft>
                <a:spcPts val="300"/>
              </a:spcAft>
            </a:pPr>
            <a:r>
              <a:rPr sz="2800" b="1">
                <a:solidFill>
                  <a:srgbClr val="F4F8FF"/>
                </a:solidFill>
                <a:latin typeface="Aptos"/>
              </a:rPr>
              <a:t>18.54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7C2D7"/>
                </a:solidFill>
                <a:latin typeface="Aptos"/>
              </a:rPr>
              <a:t>score | RMSE 1.1465 | R2 0.0802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17136"/>
            <a:ext cx="2377440" cy="1170432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4626864"/>
            <a:ext cx="204825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Frozen algorithm</a:t>
            </a:r>
          </a:p>
          <a:p>
            <a:pPr algn="l">
              <a:spcAft>
                <a:spcPts val="300"/>
              </a:spcAft>
            </a:pPr>
            <a:r>
              <a:rPr sz="2800" b="1">
                <a:solidFill>
                  <a:srgbClr val="F4F8FF"/>
                </a:solidFill>
                <a:latin typeface="Aptos"/>
              </a:rPr>
              <a:t>14.58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B7C2D7"/>
                </a:solidFill>
                <a:latin typeface="Aptos"/>
              </a:rPr>
              <a:t>leaderboard-comparable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847088"/>
            <a:ext cx="3794760" cy="3977639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708122"/>
            <a:ext cx="34655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5B335"/>
                </a:solidFill>
                <a:latin typeface="Aptos"/>
              </a:rPr>
              <a:t>Site-adaptive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3037306"/>
            <a:ext cx="3502152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400" dirty="0"/>
              <a:t>Historical local measurements refine repeat-station products.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400" dirty="0"/>
              <a:t>Retrospective date-held-out research reached 53.95.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400" dirty="0"/>
              <a:t>This is not a leaderboard replacement score.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400" dirty="0"/>
              <a:t>It shows why the system becomes stronger after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47088"/>
            <a:ext cx="4251960" cy="3977639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2708122"/>
            <a:ext cx="39227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B335"/>
                </a:solidFill>
                <a:latin typeface="Aptos"/>
              </a:rPr>
              <a:t>Application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3037306"/>
            <a:ext cx="3959352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400" dirty="0"/>
              <a:t>Reservoir and river surveillance in data-sparse regions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400" dirty="0"/>
              <a:t>Storm-event sediment monitoring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400" dirty="0"/>
              <a:t>Algal bloom early warning triage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400" dirty="0"/>
              <a:t>Mission operations where downlink is the real 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Frozen score 14.58 | site-adaptive research 53.95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V | Future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76892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8FF"/>
                </a:solidFill>
                <a:latin typeface="Aptos Display"/>
              </a:rPr>
              <a:t>From frozen runtime to adaptive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135"/>
            <a:ext cx="73180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B7C2D7"/>
                </a:solidFill>
                <a:latin typeface="Aptos"/>
              </a:rPr>
              <a:t>The next phase is about local calibration, causal validation, and mission-facing product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2057400"/>
            <a:ext cx="3246120" cy="23774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2496312"/>
            <a:ext cx="2907792" cy="1300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dirty="0">
                <a:solidFill>
                  <a:srgbClr val="20C9DA"/>
                </a:solidFill>
                <a:latin typeface="Aptos"/>
              </a:rPr>
              <a:t>Phase 1 | Final runtime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F4F8FF"/>
                </a:solidFill>
                <a:latin typeface="Aptos"/>
              </a:rPr>
              <a:t>lock the runnable package, keep the evaluation path reproducible, and preserve the container workflow</a:t>
            </a:r>
          </a:p>
        </p:txBody>
      </p:sp>
      <p:sp>
        <p:nvSpPr>
          <p:cNvPr id="7" name="Chevron 6"/>
          <p:cNvSpPr/>
          <p:nvPr/>
        </p:nvSpPr>
        <p:spPr>
          <a:xfrm>
            <a:off x="4096512" y="2944368"/>
            <a:ext cx="256032" cy="438912"/>
          </a:xfrm>
          <a:prstGeom prst="chevron">
            <a:avLst/>
          </a:prstGeom>
          <a:solidFill>
            <a:srgbClr val="F4F8FF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53712" y="2057400"/>
            <a:ext cx="3246120" cy="237744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18304" y="2496312"/>
            <a:ext cx="2907792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5B335"/>
                </a:solidFill>
                <a:latin typeface="Aptos"/>
              </a:rPr>
              <a:t>Phase 2 | Site adaptation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8FF"/>
                </a:solidFill>
                <a:latin typeface="Aptos"/>
              </a:rPr>
              <a:t>productionize local calibration with uncertainty-aware fallbacks and causal validation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7863840" y="2944368"/>
            <a:ext cx="256032" cy="438912"/>
          </a:xfrm>
          <a:prstGeom prst="chevron">
            <a:avLst/>
          </a:prstGeom>
          <a:solidFill>
            <a:srgbClr val="F4F8FF"/>
          </a:solidFill>
          <a:ln>
            <a:solidFill>
              <a:srgbClr val="F4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21040" y="2057400"/>
            <a:ext cx="3246120" cy="23774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2496312"/>
            <a:ext cx="2907792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6B6B"/>
                </a:solidFill>
                <a:latin typeface="Aptos"/>
              </a:rPr>
              <a:t>Phase 3 | Mission productization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8FF"/>
                </a:solidFill>
                <a:latin typeface="Aptos"/>
              </a:rPr>
              <a:t>improve turbidity robustness, add regime routing, and tie downlink to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4773167"/>
            <a:ext cx="10698480" cy="1462269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4837176"/>
            <a:ext cx="10369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F5B335"/>
                </a:solidFill>
                <a:latin typeface="Aptos"/>
              </a:rPr>
              <a:t>Planned technical upgrades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10405872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causal forward-only adaptation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stronger uncertainty estimates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lighter default model bundle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/>
              <a:t>downlink prioritization tied to confidence and mission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Future plan | improve reliability first, then onboard intelligence breadth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256032"/>
            <a:ext cx="3108960" cy="329184"/>
          </a:xfrm>
          <a:prstGeom prst="roundRect">
            <a:avLst/>
          </a:prstGeom>
          <a:solidFill>
            <a:srgbClr val="20C9DA"/>
          </a:solidFill>
          <a:ln>
            <a:solidFill>
              <a:srgbClr val="20C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B1020"/>
                </a:solidFill>
                <a:latin typeface="Aptos"/>
              </a:rPr>
              <a:t>Part VI | Team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43806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8FF"/>
                </a:solidFill>
                <a:latin typeface="Aptos Display"/>
              </a:rPr>
              <a:t>HydroSat Systems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1180694"/>
            <a:ext cx="70802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B7C2D7"/>
                </a:solidFill>
                <a:latin typeface="Aptos"/>
              </a:rPr>
              <a:t>Two-person build team covering modeling, evaluation, deployment, and proposal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901952"/>
            <a:ext cx="1508760" cy="50292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993392"/>
            <a:ext cx="1362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dirty="0">
                <a:solidFill>
                  <a:srgbClr val="F5B335"/>
                </a:solidFill>
                <a:latin typeface="Aptos"/>
              </a:rPr>
              <a:t>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901952"/>
            <a:ext cx="1325880" cy="50292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04872" y="1993392"/>
            <a:ext cx="1179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1" y="1901952"/>
            <a:ext cx="4160520" cy="50292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95344" y="1993392"/>
            <a:ext cx="4014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Responsibilities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901952"/>
            <a:ext cx="3200400" cy="502920"/>
          </a:xfrm>
          <a:prstGeom prst="roundRect">
            <a:avLst/>
          </a:prstGeom>
          <a:solidFill>
            <a:srgbClr val="1A253D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5904" y="1993392"/>
            <a:ext cx="3054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5B335"/>
                </a:solidFill>
                <a:latin typeface="Aptos"/>
              </a:rPr>
              <a:t>Expertise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514600"/>
            <a:ext cx="150876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576" y="2890396"/>
            <a:ext cx="1289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dirty="0">
                <a:solidFill>
                  <a:srgbClr val="F4F8FF"/>
                </a:solidFill>
                <a:latin typeface="Aptos"/>
              </a:rPr>
              <a:t>Arv Bali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514600"/>
            <a:ext cx="132588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41448" y="2879020"/>
            <a:ext cx="11064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4F8FF"/>
                </a:solidFill>
                <a:latin typeface="Aptos"/>
              </a:rPr>
              <a:t>Team Lead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22191" y="2514600"/>
            <a:ext cx="416052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0" y="2798064"/>
            <a:ext cx="3941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4F8FF"/>
                </a:solidFill>
                <a:latin typeface="Aptos"/>
              </a:rPr>
              <a:t>modeling direction, submission ownership, proposal narrative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514600"/>
            <a:ext cx="320040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798064"/>
            <a:ext cx="2980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4F8FF"/>
                </a:solidFill>
                <a:latin typeface="Aptos"/>
              </a:rPr>
              <a:t>ML experimentation, challenge strategy, 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794760"/>
            <a:ext cx="150876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170556"/>
            <a:ext cx="1289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4F8FF"/>
                </a:solidFill>
                <a:latin typeface="Aptos"/>
              </a:rPr>
              <a:t>Mrinank 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3794760"/>
            <a:ext cx="132588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41448" y="4078224"/>
            <a:ext cx="1106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dirty="0">
                <a:solidFill>
                  <a:srgbClr val="F4F8FF"/>
                </a:solidFill>
                <a:latin typeface="Aptos"/>
              </a:rPr>
              <a:t>ML and 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2191" y="3794760"/>
            <a:ext cx="416052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0" y="4078224"/>
            <a:ext cx="3941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4F8FF"/>
                </a:solidFill>
                <a:latin typeface="Aptos"/>
              </a:rPr>
              <a:t>repo cleanup, evaluation tooling, environment setup, runtime integration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794760"/>
            <a:ext cx="3200400" cy="1005840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4078224"/>
            <a:ext cx="2980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4F8FF"/>
                </a:solidFill>
                <a:latin typeface="Aptos"/>
              </a:rPr>
              <a:t>Python, geospatial tooling, packaging, infrastructure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138927"/>
            <a:ext cx="10835640" cy="909721"/>
          </a:xfrm>
          <a:prstGeom prst="roundRect">
            <a:avLst/>
          </a:prstGeom>
          <a:solidFill>
            <a:srgbClr val="141C31"/>
          </a:solidFill>
          <a:ln w="12700">
            <a:solidFill>
              <a:srgbClr val="364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202936"/>
            <a:ext cx="10506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F5B335"/>
                </a:solidFill>
                <a:latin typeface="Aptos"/>
              </a:rPr>
              <a:t>Closing 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5532120"/>
            <a:ext cx="10543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4F8FF"/>
                </a:solidFill>
                <a:latin typeface="Aptos"/>
              </a:defRPr>
            </a:pPr>
            <a:r>
              <a:rPr sz="1200" dirty="0" err="1"/>
              <a:t>HydroSat</a:t>
            </a:r>
            <a:r>
              <a:rPr sz="1200" dirty="0"/>
              <a:t> already provides a real, reproducible, container-ready baseline today, and our next step is to make that baseline more robust as an onboard water-intelligence system.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7C2D7"/>
                </a:solidFill>
                <a:latin typeface="Aptos"/>
              </a:rPr>
              <a:t>HydroSat Systems | contact: baliarv21@gmail.com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965</Words>
  <Application>Microsoft Office PowerPoint</Application>
  <PresentationFormat>Widescreen</PresentationFormat>
  <Paragraphs>147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Mrinank Sivakumar</cp:lastModifiedBy>
  <cp:revision>2</cp:revision>
  <dcterms:created xsi:type="dcterms:W3CDTF">2013-01-27T09:14:16Z</dcterms:created>
  <dcterms:modified xsi:type="dcterms:W3CDTF">2026-05-15T08:35:25Z</dcterms:modified>
  <cp:category/>
</cp:coreProperties>
</file>